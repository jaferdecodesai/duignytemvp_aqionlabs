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Aqion Relay helps a non-perishable goods distributor compare recovery purchases against an owner-defined cash floor. The public MVP uses fictional SME and supplier data. It trains a numerical forecast, evaluates feasible alternatives and saves an unsent draft only after owner confirmation. No order is sent and no funds move. The two cover links take judges directly to the public source and the verified live demonstration.
Sources: S01 ·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segment is non-perishable packaging and general trading distributors. Relay starts with one SKU and a 30-day view. A delayed inbound shipment threatens fulfilment while a replacement order competes for cash reserved for existing obligations. This is the operational decision we will validate with consenting SMEs, not a claim of completed customer research.
Sources: Product proposition / proposed operating plan.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the ResilienceTech track. Inventory tools already support replenishment and purchase orders. Relay focuses on the decision between disruption and approved action: compare supply recovery under a daily cash constraint, then retain source-bound evidence. This complements existing systems. It is not a claim that the combination is globally unique. Liquidity finance is not the initial execution scope; Relay does not move funds.
Sources: S01 · S04 · S05.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MVP supports this complete sequence with synthetic records. The owner selects a fictional SME, adjusts the disruption, runs the scenario and compares stock and cash. A review dialog shows supplier quantities, costs and terms. Explicit confirmation creates an unsent synthetic draft. Approval rechecks the current snapshot, calculation version and constraints; duplicates return the existing result.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fixture: packaging SME; shipment delay 7 days; demand increase 20%; freight increase 25%; cash floor AED 24,000. The model evaluates 130 combinations including baseline. Baseline fulfilment is 990 of 1,362 projected units with 9 stockout days. The recommended evaluated order is 400 units from fictional Oasis, arriving on day 4. It costs AED 7,887.50 including fictional VAT-inclusive item price and adjusted freight. It fulfils 1,362 projected units with zero stockout days and minimum projected cash AED 28,112.50. These are model outputs on fiction, not measured customer gains. Model assumptions include prepaid original inbound stock, recovery paid on day 1, scheduled receipts only and obligations before same-day receipts.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fits weekday and trend ridge regression to fictional fulfilled-sales history, comparing the last 14 days against a seasonal-naive baseline; it chooses the lower synthetic holdout-error method and refits as applicable. Short or constant histories use a labelled trailing-average fallback. The same holdout is used for model selection, so it is not an independent final quality test. Fulfilled sales may censor true demand. Candidate quantities obey approved-supplier status, quote expiry, MOQ, pack size, cap and lead time. Enumeration is bounded, at most 8,000 combinations in the current three-supplier slice, not a proof of a global optimum. Deterministic templates explain the calculation; no live generative model decides purchases.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implemented web MVP offers Overview, Evidence, Connections and Pilot views. It supports scenario controls, stock/cash charts, a 30-day data table, owner review, saved unsent drafts, cancellation, synthetic JSON import/export and per-SME reset. Anonymous browser sessions isolate demonstration workspaces. This is not enterprise identity. The running Cloudflare app is verified separately through the live cover link. Mobile and automated validation evidence is retained with the repository; exact test counts belong to current CI, not an evergreen claim on this slide.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deployment uses a static-export Next.js/React frontend served as Cloudflare Worker assets. The API, numerical engine and domain services run inside a native SQLite-backed Durable Object, using transactionSync for atomic draft, audit and version checks. Signed anonymous sessions, same-origin/CSRF controls and bounded inputs guard the public synthetic workflow. A workspace transaction preserves approval and audit integrity. This is not enterprise tenant IAM; the production-pilot roadmap adds authenticated roles, approved processing/data location, connector credentials and operational restore acceptance. No local filesystem database or Hostinger/MySQL service is required for the Cloudflare release.
Sources: S06 · S07 ·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eight-week integration preparation, with responsibilities and acceptance gates. Weeks 1–2: AqionLabs maps consented snapshots, SME owners verify terms and the du sponsor approves scope; gate is required-field coverage and approved processing/security design. Weeks 3–4: AqionLabs builds a scoped read-only Zoho adapter using organization and region context; reconcile normalized snapshot against source totals and handle event IDs/revisions. Weeks 5–6: add owner-authorized ERP drafts with idempotency/outbox and reconciliation, sandbox-tested; ambiguous writes remain pending reconciliation. Weeks 7–8: configure sponsor-agreed du identity/billing/distribution interfaces and operational monitoring; no du interface is claimed connected. Each period starts when its dependencies are approved. Pilot comparison begins only after acceptance. Odoo is a subsequent adapter subject to exact version/plan, not a prerequisite for the first pilot.
Sources: S05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enrollment: 160 consenting non-perishable-goods distributors; at least 150 enrolled before intervention. du sponsors recruitment; AqionLabs operates onboarding, support and analysis; an evaluation lead preregisters outcomes and completes power/MDE analysis before intervention. Four waves of 40 start in pilot weeks 1,2,3,4. Each receives two common baseline weeks then six comparison weeks; within each wave and sector/size/ERP strata, randomize 20 immediate and 20 delayed-access SMEs. The last comparison ends in week 11, analysis occurs in week 12. Delayed access follows its comparison window. Enrollment begins after the integration and operational acceptance gates, not during an unsafe live-write trial. Record screened, enrolled, randomized, activated, completed, withdrawn and missing-data counts; do not replace dropouts after randomization. A 160-SME feasibility cohort alone does not establish statistical power.
Sources: S01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percentages on this slide are prospective pilot targets, not achieved customer outcomes. Primary outcome: time from equivalent disruption brief to owner-approved plan that passes a predetermined blinded feasibility rubric. Use baseline-adjusted log-time comparison with SME assignment, wave/calendar and strata; report effect and 95% interval plus raw medians. Include non-completion under a preregistered capped-time rule with sensitivity analysis. Target 40% shorter time. Secondary feasibility target: at least 90% rubric-passing approved plans, all assigned drills in denominator. Adoption target: 70% of SMEs with access review at least one scenario per week, reporting opportunity and reasons for non-use. Exploratory stockout target is 15% reduction, reported separately with uncertainty and no causal before/after shortcut. Zero projected floor breaches, unauthorized external writes and duplicate external effects are stop rules for the later live pilot, not claims that predicted cash guarantees actual cash. Monitor source completeness and reconciliation latency. Independent baseline variance/power analysis determines whether efficacy or feasibility interpretation is justified.
Sources: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proposal: a per-SME subscription distributed through du, with connector onboarding and service scope agreed before offer. No price, revenue, customer count or commercial commitment is claimed. Measure onboarding time, weekly use, support minutes and total cost per active SME in the pilot; scale only within a sponsor-approved unit-cost ceiling. Engineering scale path: 160-SME pilot, a 1,000-SME controlled rollout, then load/isolation/restore acceptance for the 40,000+ ambition. An illustrative engineering envelope assumes 1,000 normalized events and four scenarios per SME per day: 40m events/day at 40,000 SMEs, 463 average events/s, 4,630/s at ten-times peak, and 160,000 scenarios/day (1.85 average/s). These are arithmetic assumptions, not measured capacity. Proposed service targets such as p95 scenario latency &lt;5s, availability 99.9%, RPO&lt;=15m and RTO&lt;=4h require sponsor agreement and separate acceptance tests; they are not current contractual SLAs.
Sources: S02 · S03.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synthetic MVP controls include validation, source-age and quote checks, scenario/version binding, signed anonymous sessions, same-origin/CSRF checks, bounded input, persistent draft/audit transactions, human confirmation and duplicate protection. These do not constitute enterprise acceptance. Pilot release gates add tenant IAM/roles, approved processing and data location, scoped connector secrets, encryption and restore testing, ERP outbox/reconciliation and incident ownership. Daily monitoring reviews source lag, invalid fields, rejected approvals, write ambiguity and reconciliation age. A material floor/authorization/duplicate violation pauses writes; the operator investigates and the sponsor approves resumption. Forecast error is monitored against naive baseline, sparse histories fall back visibly. No autonomous buying or funds movement is included.
Sources: S06 · S08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seek a du sponsor, recruitment of 160 consenting eligible SMEs with at least 150 enrolled before intervention, technical owners for approved read-only and draft interfaces, and a joint evaluation lead. AqionLabs delivers the working MVP, phased connector engineering, onboarding and pilot evidence. Before pilot week 1, agree success thresholds, processing/security controls, support ownership and the cost ceiling. This is a concrete pilot proposal, not a claim of customers, commercial acceptance, production certification or submitted application. Close by opening the live MVP and showing the default scenario, then the explicit unsent draft review.
Sources: S01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uignytemvp.aqionlabs.workers.dev" TargetMode="External"/><Relationship Id="rId2" Type="http://schemas.openxmlformats.org/officeDocument/2006/relationships/hyperlink" Target="https://github.com/Jaferdecodesai/DuIgnyteMVP_Aqionlabs"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duignytemvp.aqionlabs.workers.dev" TargetMode="External"/><Relationship Id="rId3" Type="http://schemas.openxmlformats.org/officeDocument/2006/relationships/hyperlink" Target="https://duignytemvp.aqionlabs.workers.dev" TargetMode="External"/><Relationship Id="rId4" Type="http://schemas.openxmlformats.org/officeDocument/2006/relationships/hyperlink" Target="https://duignytemvp.aqionlabs.workers.dev" TargetMode="External"/><Relationship Id="rId5" Type="http://schemas.openxmlformats.org/officeDocument/2006/relationships/hyperlink" Target="https://github.com/Jaferdecodesai/DuIgnyteMVP_Aqionlabs" TargetMode="External"/><Relationship Id="rId1" Type="http://schemas.openxmlformats.org/officeDocument/2006/relationships/image" Target="../media/image-7-1.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Jaferdecodesai/DuIgnyteMVP_Aqionlabs/blob/main/Aqion-Relay-System-Design.docx"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uignytemvp.aqionlabs.workers.dev" TargetMode="External"/><Relationship Id="rId2" Type="http://schemas.openxmlformats.org/officeDocument/2006/relationships/hyperlink" Target="https://github.com/Jaferdecodesai/DuIgnyteMVP_Aqionlabs"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F3A"/>
          </a:solidFill>
          <a:ln w="12700">
            <a:solidFill>
              <a:srgbClr val="102F3A">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D3EDE0"/>
                </a:solidFill>
                <a:latin typeface="Instrument Sans" pitchFamily="34" charset="0"/>
                <a:ea typeface="Instrument Sans" pitchFamily="34" charset="-122"/>
                <a:cs typeface="Instrument Sans" pitchFamily="34" charset="-120"/>
              </a:rPr>
              <a:t>DU × IGNYTE CHALLENGE · RESILIENCETECH</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FFFFFF"/>
                </a:solidFill>
                <a:latin typeface="Instrument Sans" pitchFamily="34" charset="0"/>
                <a:ea typeface="Instrument Sans" pitchFamily="34" charset="-122"/>
                <a:cs typeface="Instrument Sans" pitchFamily="34" charset="-120"/>
              </a:rPr>
              <a:t>aqionlabs.ai</a:t>
            </a:r>
            <a:endParaRPr lang="en-US" sz="1560" dirty="0"/>
          </a:p>
        </p:txBody>
      </p:sp>
      <p:sp>
        <p:nvSpPr>
          <p:cNvPr id="5" name="Shape 3"/>
          <p:cNvSpPr/>
          <p:nvPr/>
        </p:nvSpPr>
        <p:spPr>
          <a:xfrm>
            <a:off x="609600" y="6316980"/>
            <a:ext cx="10972800" cy="0"/>
          </a:xfrm>
          <a:prstGeom prst="line">
            <a:avLst/>
          </a:prstGeom>
          <a:noFill/>
          <a:ln w="7620">
            <a:solidFill>
              <a:srgbClr val="B5D0CD"/>
            </a:solidFill>
            <a:prstDash val="solid"/>
          </a:ln>
        </p:spPr>
      </p:sp>
      <p:sp>
        <p:nvSpPr>
          <p:cNvPr id="6" name="Text 4"/>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B5D0CD"/>
                </a:solidFill>
                <a:latin typeface="Instrument Sans" pitchFamily="34" charset="0"/>
                <a:ea typeface="Instrument Sans" pitchFamily="34" charset="-122"/>
                <a:cs typeface="Instrument Sans" pitchFamily="34" charset="-120"/>
              </a:rPr>
              <a:t>01</a:t>
            </a:r>
            <a:endParaRPr lang="en-US" sz="1020" dirty="0"/>
          </a:p>
        </p:txBody>
      </p:sp>
      <p:sp>
        <p:nvSpPr>
          <p:cNvPr id="7" name="Text 5"/>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B5D0CD"/>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8" name="Text 6"/>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B5D0CD"/>
                </a:solidFill>
                <a:latin typeface="Instrument Sans" pitchFamily="34" charset="0"/>
                <a:ea typeface="Instrument Sans" pitchFamily="34" charset="-122"/>
                <a:cs typeface="Instrument Sans" pitchFamily="34" charset="-120"/>
              </a:rPr>
              <a:t>S01 · S08</a:t>
            </a:r>
            <a:endParaRPr lang="en-US" sz="900" dirty="0"/>
          </a:p>
        </p:txBody>
      </p:sp>
      <p:sp>
        <p:nvSpPr>
          <p:cNvPr id="9" name="Text 7"/>
          <p:cNvSpPr/>
          <p:nvPr/>
        </p:nvSpPr>
        <p:spPr>
          <a:xfrm>
            <a:off x="609600" y="1196340"/>
            <a:ext cx="7620000" cy="723900"/>
          </a:xfrm>
          <a:prstGeom prst="rect">
            <a:avLst/>
          </a:prstGeom>
          <a:noFill/>
          <a:ln/>
        </p:spPr>
        <p:txBody>
          <a:bodyPr wrap="square" lIns="0" tIns="0" rIns="0" bIns="0" rtlCol="0" anchor="t">
            <a:spAutoFit/>
          </a:bodyPr>
          <a:lstStyle/>
          <a:p>
            <a:pPr algn="l" indent="0" marL="0">
              <a:lnSpc>
                <a:spcPct val="100000"/>
              </a:lnSpc>
              <a:buNone/>
            </a:pPr>
            <a:r>
              <a:rPr lang="en-US" sz="4560" b="1" dirty="0">
                <a:solidFill>
                  <a:srgbClr val="D3EDE0"/>
                </a:solidFill>
                <a:latin typeface="Bricolage Grotesque" pitchFamily="34" charset="0"/>
                <a:ea typeface="Bricolage Grotesque" pitchFamily="34" charset="-122"/>
                <a:cs typeface="Bricolage Grotesque" pitchFamily="34" charset="-120"/>
              </a:rPr>
              <a:t>Aqion Relay</a:t>
            </a:r>
            <a:endParaRPr lang="en-US" sz="4560" dirty="0"/>
          </a:p>
        </p:txBody>
      </p:sp>
      <p:sp>
        <p:nvSpPr>
          <p:cNvPr id="10" name="Text 8"/>
          <p:cNvSpPr/>
          <p:nvPr/>
        </p:nvSpPr>
        <p:spPr>
          <a:xfrm>
            <a:off x="609600" y="2171700"/>
            <a:ext cx="7924800" cy="1600200"/>
          </a:xfrm>
          <a:prstGeom prst="rect">
            <a:avLst/>
          </a:prstGeom>
          <a:noFill/>
          <a:ln/>
        </p:spPr>
        <p:txBody>
          <a:bodyPr wrap="square" lIns="0" tIns="0" rIns="0" bIns="0" rtlCol="0" anchor="t">
            <a:spAutoFit/>
          </a:bodyPr>
          <a:lstStyle/>
          <a:p>
            <a:pPr algn="l" indent="0" marL="0">
              <a:lnSpc>
                <a:spcPct val="100000"/>
              </a:lnSpc>
              <a:buNone/>
            </a:pPr>
            <a:r>
              <a:rPr lang="en-US" sz="4680" b="1" dirty="0">
                <a:solidFill>
                  <a:srgbClr val="FFFFFF"/>
                </a:solidFill>
                <a:latin typeface="Bricolage Grotesque" pitchFamily="34" charset="0"/>
                <a:ea typeface="Bricolage Grotesque" pitchFamily="34" charset="-122"/>
                <a:cs typeface="Bricolage Grotesque" pitchFamily="34" charset="-120"/>
              </a:rPr>
              <a:t>Recover supply.</a:t>
            </a:r>
            <a:endParaRPr lang="en-US" sz="4680" dirty="0"/>
          </a:p>
          <a:p>
            <a:pPr algn="l" indent="0" marL="0">
              <a:lnSpc>
                <a:spcPct val="100000"/>
              </a:lnSpc>
              <a:buNone/>
            </a:pPr>
            <a:r>
              <a:rPr lang="en-US" sz="4680" b="1" dirty="0">
                <a:solidFill>
                  <a:srgbClr val="FFFFFF"/>
                </a:solidFill>
                <a:latin typeface="Bricolage Grotesque" pitchFamily="34" charset="0"/>
                <a:ea typeface="Bricolage Grotesque" pitchFamily="34" charset="-122"/>
                <a:cs typeface="Bricolage Grotesque" pitchFamily="34" charset="-120"/>
              </a:rPr>
              <a:t>Protect operating cash.</a:t>
            </a:r>
            <a:endParaRPr lang="en-US" sz="4680" dirty="0"/>
          </a:p>
        </p:txBody>
      </p:sp>
      <p:sp>
        <p:nvSpPr>
          <p:cNvPr id="11" name="Text 9"/>
          <p:cNvSpPr/>
          <p:nvPr/>
        </p:nvSpPr>
        <p:spPr>
          <a:xfrm>
            <a:off x="640080" y="4099560"/>
            <a:ext cx="7620000" cy="487680"/>
          </a:xfrm>
          <a:prstGeom prst="rect">
            <a:avLst/>
          </a:prstGeom>
          <a:noFill/>
          <a:ln/>
        </p:spPr>
        <p:txBody>
          <a:bodyPr wrap="square" lIns="0" tIns="0" rIns="0" bIns="0" rtlCol="0" anchor="t">
            <a:spAutoFit/>
          </a:bodyPr>
          <a:lstStyle/>
          <a:p>
            <a:pPr algn="l" indent="0" marL="0">
              <a:lnSpc>
                <a:spcPct val="100000"/>
              </a:lnSpc>
              <a:buNone/>
            </a:pPr>
            <a:r>
              <a:rPr lang="en-US" sz="1920" dirty="0">
                <a:solidFill>
                  <a:srgbClr val="B5D0CD"/>
                </a:solidFill>
                <a:latin typeface="Instrument Sans" pitchFamily="34" charset="0"/>
                <a:ea typeface="Instrument Sans" pitchFamily="34" charset="-122"/>
                <a:cs typeface="Instrument Sans" pitchFamily="34" charset="-120"/>
              </a:rPr>
              <a:t>A practical recovery copilot for UAE SME distributors.</a:t>
            </a:r>
            <a:endParaRPr lang="en-US" sz="1920" dirty="0"/>
          </a:p>
        </p:txBody>
      </p:sp>
      <p:sp>
        <p:nvSpPr>
          <p:cNvPr id="12" name="Text 10"/>
          <p:cNvSpPr/>
          <p:nvPr/>
        </p:nvSpPr>
        <p:spPr>
          <a:xfrm>
            <a:off x="640080" y="4960620"/>
            <a:ext cx="1562100" cy="32004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D3EDE0"/>
                </a:solidFill>
                <a:latin typeface="Instrument Sans" pitchFamily="34" charset="0"/>
                <a:ea typeface="Instrument Sans" pitchFamily="34" charset="-122"/>
                <a:cs typeface="Instrument Sans" pitchFamily="34" charset="-120"/>
              </a:rPr>
              <a:t>LIVE MVP</a:t>
            </a:r>
            <a:endParaRPr lang="en-US" sz="1440" dirty="0"/>
          </a:p>
        </p:txBody>
      </p:sp>
      <p:sp>
        <p:nvSpPr>
          <p:cNvPr id="13" name="Text 11">
            <a:hlinkClick r:id="rId1" tooltip=""/>
          </p:cNvPr>
          <p:cNvSpPr/>
          <p:nvPr/>
        </p:nvSpPr>
        <p:spPr>
          <a:xfrm>
            <a:off x="2362200" y="4960620"/>
            <a:ext cx="9220200" cy="320040"/>
          </a:xfrm>
          <a:prstGeom prst="rect">
            <a:avLst/>
          </a:prstGeom>
          <a:noFill/>
          <a:ln/>
        </p:spPr>
        <p:txBody>
          <a:bodyPr wrap="square" lIns="0" tIns="0" rIns="0" bIns="0" rtlCol="0" anchor="t">
            <a:spAutoFit/>
          </a:bodyPr>
          <a:lstStyle/>
          <a:p>
            <a:pPr algn="l" indent="0" marL="0">
              <a:lnSpc>
                <a:spcPct val="100000"/>
              </a:lnSpc>
              <a:buNone/>
            </a:pPr>
            <a:r>
              <a:rPr lang="en-US" sz="1440" u="sng" dirty="0">
                <a:solidFill>
                  <a:srgbClr val="FFFFFF"/>
                </a:solidFill>
                <a:latin typeface="Instrument Sans" pitchFamily="34" charset="0"/>
                <a:ea typeface="Instrument Sans" pitchFamily="34" charset="-122"/>
                <a:cs typeface="Instrument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https://duignytemvp.aqionlabs.workers.dev</a:t>
            </a:r>
            <a:endParaRPr lang="en-US" sz="1440" dirty="0"/>
          </a:p>
        </p:txBody>
      </p:sp>
      <p:sp>
        <p:nvSpPr>
          <p:cNvPr id="14" name="Text 12"/>
          <p:cNvSpPr/>
          <p:nvPr/>
        </p:nvSpPr>
        <p:spPr>
          <a:xfrm>
            <a:off x="640080" y="5478780"/>
            <a:ext cx="1562100" cy="32004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D3EDE0"/>
                </a:solidFill>
                <a:latin typeface="Instrument Sans" pitchFamily="34" charset="0"/>
                <a:ea typeface="Instrument Sans" pitchFamily="34" charset="-122"/>
                <a:cs typeface="Instrument Sans" pitchFamily="34" charset="-120"/>
              </a:rPr>
              <a:t>GITHUB SOURCE</a:t>
            </a:r>
            <a:endParaRPr lang="en-US" sz="1440" dirty="0"/>
          </a:p>
        </p:txBody>
      </p:sp>
      <p:sp>
        <p:nvSpPr>
          <p:cNvPr id="15" name="Text 13">
            <a:hlinkClick r:id="rId2" tooltip=""/>
          </p:cNvPr>
          <p:cNvSpPr/>
          <p:nvPr/>
        </p:nvSpPr>
        <p:spPr>
          <a:xfrm>
            <a:off x="2362200" y="5478780"/>
            <a:ext cx="9220200" cy="320040"/>
          </a:xfrm>
          <a:prstGeom prst="rect">
            <a:avLst/>
          </a:prstGeom>
          <a:noFill/>
          <a:ln/>
        </p:spPr>
        <p:txBody>
          <a:bodyPr wrap="square" lIns="0" tIns="0" rIns="0" bIns="0" rtlCol="0" anchor="t">
            <a:spAutoFit/>
          </a:bodyPr>
          <a:lstStyle/>
          <a:p>
            <a:pPr algn="l" indent="0" marL="0">
              <a:lnSpc>
                <a:spcPct val="100000"/>
              </a:lnSpc>
              <a:buNone/>
            </a:pPr>
            <a:r>
              <a:rPr lang="en-US" sz="1440" u="sng" dirty="0">
                <a:solidFill>
                  <a:srgbClr val="FFFFFF"/>
                </a:solidFill>
                <a:latin typeface="Instrument Sans" pitchFamily="34" charset="0"/>
                <a:ea typeface="Instrument Sans" pitchFamily="34" charset="-122"/>
                <a:cs typeface="Instrument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https://github.com/Jaferdecodesai/DuIgnyteMVP_Aqionlabs</a:t>
            </a:r>
            <a:endParaRPr lang="en-US" sz="1440" dirty="0"/>
          </a:p>
        </p:txBody>
      </p:sp>
      <p:sp>
        <p:nvSpPr>
          <p:cNvPr id="16" name="Shape 14"/>
          <p:cNvSpPr/>
          <p:nvPr/>
        </p:nvSpPr>
        <p:spPr>
          <a:xfrm>
            <a:off x="10378440" y="1219200"/>
            <a:ext cx="1066800" cy="426720"/>
          </a:xfrm>
          <a:prstGeom prst="roundRect">
            <a:avLst>
              <a:gd name="adj" fmla="val 25000"/>
            </a:avLst>
          </a:prstGeom>
          <a:solidFill>
            <a:srgbClr val="087F80"/>
          </a:solidFill>
          <a:ln w="12700">
            <a:solidFill>
              <a:srgbClr val="087F80">
                <a:alpha val="0"/>
              </a:srgbClr>
            </a:solidFill>
            <a:prstDash val="solid"/>
          </a:ln>
        </p:spPr>
      </p:sp>
      <p:sp>
        <p:nvSpPr>
          <p:cNvPr id="17" name="Shape 15"/>
          <p:cNvSpPr/>
          <p:nvPr/>
        </p:nvSpPr>
        <p:spPr>
          <a:xfrm>
            <a:off x="10911840" y="1645920"/>
            <a:ext cx="0" cy="335280"/>
          </a:xfrm>
          <a:prstGeom prst="line">
            <a:avLst/>
          </a:prstGeom>
          <a:noFill/>
          <a:ln w="22860">
            <a:solidFill>
              <a:srgbClr val="B5D0CD"/>
            </a:solidFill>
            <a:prstDash val="solid"/>
          </a:ln>
        </p:spPr>
      </p:sp>
      <p:sp>
        <p:nvSpPr>
          <p:cNvPr id="18" name="Shape 16"/>
          <p:cNvSpPr/>
          <p:nvPr/>
        </p:nvSpPr>
        <p:spPr>
          <a:xfrm>
            <a:off x="10378440" y="1981200"/>
            <a:ext cx="1066800" cy="426720"/>
          </a:xfrm>
          <a:prstGeom prst="roundRect">
            <a:avLst>
              <a:gd name="adj" fmla="val 25000"/>
            </a:avLst>
          </a:prstGeom>
          <a:solidFill>
            <a:srgbClr val="D3EDE0"/>
          </a:solidFill>
          <a:ln w="12700">
            <a:solidFill>
              <a:srgbClr val="D3EDE0">
                <a:alpha val="0"/>
              </a:srgbClr>
            </a:solidFill>
            <a:prstDash val="solid"/>
          </a:ln>
        </p:spPr>
      </p:sp>
      <p:sp>
        <p:nvSpPr>
          <p:cNvPr id="19" name="Shape 17"/>
          <p:cNvSpPr/>
          <p:nvPr/>
        </p:nvSpPr>
        <p:spPr>
          <a:xfrm>
            <a:off x="10911840" y="2407920"/>
            <a:ext cx="0" cy="335280"/>
          </a:xfrm>
          <a:prstGeom prst="line">
            <a:avLst/>
          </a:prstGeom>
          <a:noFill/>
          <a:ln w="22860">
            <a:solidFill>
              <a:srgbClr val="B5D0CD"/>
            </a:solidFill>
            <a:prstDash val="solid"/>
          </a:ln>
        </p:spPr>
      </p:sp>
      <p:sp>
        <p:nvSpPr>
          <p:cNvPr id="20" name="Shape 18"/>
          <p:cNvSpPr/>
          <p:nvPr/>
        </p:nvSpPr>
        <p:spPr>
          <a:xfrm>
            <a:off x="10378440" y="2743200"/>
            <a:ext cx="1066800" cy="426720"/>
          </a:xfrm>
          <a:prstGeom prst="roundRect">
            <a:avLst>
              <a:gd name="adj" fmla="val 25000"/>
            </a:avLst>
          </a:prstGeom>
          <a:solidFill>
            <a:srgbClr val="087F80"/>
          </a:solidFill>
          <a:ln w="12700">
            <a:solidFill>
              <a:srgbClr val="087F80">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THE PROBLEM</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shipment slips.</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Two commitments collide.</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02</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Initial wedge: non-perishable packaging and general trading distributors; one SKU over 30 days.</a:t>
            </a:r>
            <a:endParaRPr lang="en-US" sz="1140" dirty="0"/>
          </a:p>
        </p:txBody>
      </p:sp>
      <p:sp>
        <p:nvSpPr>
          <p:cNvPr id="10" name="Shape 8"/>
          <p:cNvSpPr/>
          <p:nvPr/>
        </p:nvSpPr>
        <p:spPr>
          <a:xfrm>
            <a:off x="609600" y="2514600"/>
            <a:ext cx="5295900" cy="2766060"/>
          </a:xfrm>
          <a:prstGeom prst="roundRect">
            <a:avLst>
              <a:gd name="adj" fmla="val 4408"/>
            </a:avLst>
          </a:prstGeom>
          <a:solidFill>
            <a:srgbClr val="FFFFFF"/>
          </a:solidFill>
          <a:ln w="12700">
            <a:solidFill>
              <a:srgbClr val="FFFFFF">
                <a:alpha val="0"/>
              </a:srgbClr>
            </a:solidFill>
            <a:prstDash val="solid"/>
          </a:ln>
        </p:spPr>
      </p:sp>
      <p:sp>
        <p:nvSpPr>
          <p:cNvPr id="11" name="Text 9"/>
          <p:cNvSpPr/>
          <p:nvPr/>
        </p:nvSpPr>
        <p:spPr>
          <a:xfrm>
            <a:off x="822960" y="2720340"/>
            <a:ext cx="48691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CUSTOMER COMMITMENT</a:t>
            </a:r>
            <a:endParaRPr lang="en-US" sz="1080" dirty="0"/>
          </a:p>
        </p:txBody>
      </p:sp>
      <p:sp>
        <p:nvSpPr>
          <p:cNvPr id="12" name="Text 10"/>
          <p:cNvSpPr/>
          <p:nvPr/>
        </p:nvSpPr>
        <p:spPr>
          <a:xfrm>
            <a:off x="822960" y="3116580"/>
            <a:ext cx="48691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Keep customer</a:t>
            </a:r>
            <a:endParaRPr lang="en-US" sz="2160" dirty="0"/>
          </a:p>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orders moving</a:t>
            </a:r>
            <a:endParaRPr lang="en-US" sz="2160" dirty="0"/>
          </a:p>
        </p:txBody>
      </p:sp>
      <p:sp>
        <p:nvSpPr>
          <p:cNvPr id="13" name="Text 11"/>
          <p:cNvSpPr/>
          <p:nvPr/>
        </p:nvSpPr>
        <p:spPr>
          <a:xfrm>
            <a:off x="822960" y="4091940"/>
            <a:ext cx="4869180" cy="10439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 delayed inbound shipment creates an immediate gap</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in stock availability.</a:t>
            </a:r>
            <a:endParaRPr lang="en-US" sz="1500" dirty="0"/>
          </a:p>
        </p:txBody>
      </p:sp>
      <p:sp>
        <p:nvSpPr>
          <p:cNvPr id="14" name="Shape 12"/>
          <p:cNvSpPr/>
          <p:nvPr/>
        </p:nvSpPr>
        <p:spPr>
          <a:xfrm>
            <a:off x="6134100" y="2514600"/>
            <a:ext cx="5448300" cy="2766060"/>
          </a:xfrm>
          <a:prstGeom prst="roundRect">
            <a:avLst>
              <a:gd name="adj" fmla="val 4408"/>
            </a:avLst>
          </a:prstGeom>
          <a:solidFill>
            <a:srgbClr val="102F3A"/>
          </a:solidFill>
          <a:ln w="12700">
            <a:solidFill>
              <a:srgbClr val="102F3A">
                <a:alpha val="0"/>
              </a:srgbClr>
            </a:solidFill>
            <a:prstDash val="solid"/>
          </a:ln>
        </p:spPr>
      </p:sp>
      <p:sp>
        <p:nvSpPr>
          <p:cNvPr id="15" name="Text 13"/>
          <p:cNvSpPr/>
          <p:nvPr/>
        </p:nvSpPr>
        <p:spPr>
          <a:xfrm>
            <a:off x="6347460" y="2720340"/>
            <a:ext cx="50215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CASH COMMITMENT</a:t>
            </a:r>
            <a:endParaRPr lang="en-US" sz="1080" dirty="0"/>
          </a:p>
        </p:txBody>
      </p:sp>
      <p:sp>
        <p:nvSpPr>
          <p:cNvPr id="16" name="Text 14"/>
          <p:cNvSpPr/>
          <p:nvPr/>
        </p:nvSpPr>
        <p:spPr>
          <a:xfrm>
            <a:off x="6347460" y="3116580"/>
            <a:ext cx="50215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Keep the business</a:t>
            </a:r>
            <a:endParaRPr lang="en-US" sz="2160" dirty="0"/>
          </a:p>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operating</a:t>
            </a:r>
            <a:endParaRPr lang="en-US" sz="2160" dirty="0"/>
          </a:p>
        </p:txBody>
      </p:sp>
      <p:sp>
        <p:nvSpPr>
          <p:cNvPr id="17" name="Text 15"/>
          <p:cNvSpPr/>
          <p:nvPr/>
        </p:nvSpPr>
        <p:spPr>
          <a:xfrm>
            <a:off x="6347460" y="4091940"/>
            <a:ext cx="5021580" cy="10439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A replacement purchase must leave room for existing</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payments and the owner’s cash floor.</a:t>
            </a:r>
            <a:endParaRPr lang="en-US" sz="1500" dirty="0"/>
          </a:p>
        </p:txBody>
      </p:sp>
      <p:sp>
        <p:nvSpPr>
          <p:cNvPr id="18" name="Text 16"/>
          <p:cNvSpPr/>
          <p:nvPr/>
        </p:nvSpPr>
        <p:spPr>
          <a:xfrm>
            <a:off x="609600" y="5486400"/>
            <a:ext cx="10972800" cy="37338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Instrument Sans" pitchFamily="34" charset="0"/>
                <a:ea typeface="Instrument Sans" pitchFamily="34" charset="-122"/>
                <a:cs typeface="Instrument Sans" pitchFamily="34" charset="-120"/>
              </a:rPr>
              <a:t>Which recovery purchase is feasible — and worth approving?</a:t>
            </a:r>
            <a:endParaRPr lang="en-US" sz="1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WHY RESILIENCETECH</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One focused decision.</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strong fit with existing SME tools.</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03</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S01 · S04 · S05</a:t>
            </a:r>
            <a:endParaRPr lang="en-US" sz="900" dirty="0"/>
          </a:p>
        </p:txBody>
      </p:sp>
      <p:sp>
        <p:nvSpPr>
          <p:cNvPr id="10" name="Shape 8"/>
          <p:cNvSpPr/>
          <p:nvPr/>
        </p:nvSpPr>
        <p:spPr>
          <a:xfrm>
            <a:off x="609600" y="2514600"/>
            <a:ext cx="3505200" cy="2994660"/>
          </a:xfrm>
          <a:prstGeom prst="roundRect">
            <a:avLst>
              <a:gd name="adj" fmla="val 4071"/>
            </a:avLst>
          </a:prstGeom>
          <a:solidFill>
            <a:srgbClr val="FFFFFF"/>
          </a:solidFill>
          <a:ln w="12700">
            <a:solidFill>
              <a:srgbClr val="FFFFFF">
                <a:alpha val="0"/>
              </a:srgbClr>
            </a:solidFill>
            <a:prstDash val="solid"/>
          </a:ln>
        </p:spPr>
      </p:sp>
      <p:sp>
        <p:nvSpPr>
          <p:cNvPr id="11" name="Text 9"/>
          <p:cNvSpPr/>
          <p:nvPr/>
        </p:nvSpPr>
        <p:spPr>
          <a:xfrm>
            <a:off x="8229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01 / RELEVANT</a:t>
            </a:r>
            <a:endParaRPr lang="en-US" sz="1080" dirty="0"/>
          </a:p>
        </p:txBody>
      </p:sp>
      <p:sp>
        <p:nvSpPr>
          <p:cNvPr id="12" name="Text 10"/>
          <p:cNvSpPr/>
          <p:nvPr/>
        </p:nvSpPr>
        <p:spPr>
          <a:xfrm>
            <a:off x="8229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Disruption to decision</a:t>
            </a:r>
            <a:endParaRPr lang="en-US" sz="2160" dirty="0"/>
          </a:p>
        </p:txBody>
      </p:sp>
      <p:sp>
        <p:nvSpPr>
          <p:cNvPr id="13" name="Text 11"/>
          <p:cNvSpPr/>
          <p:nvPr/>
        </p:nvSpPr>
        <p:spPr>
          <a:xfrm>
            <a:off x="822960" y="4091940"/>
            <a:ext cx="3078480" cy="12725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Stress-test shipment delay,</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demand and freight in one owner</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workflow.</a:t>
            </a:r>
            <a:endParaRPr lang="en-US" sz="1500" dirty="0"/>
          </a:p>
        </p:txBody>
      </p:sp>
      <p:sp>
        <p:nvSpPr>
          <p:cNvPr id="14" name="Shape 12"/>
          <p:cNvSpPr/>
          <p:nvPr/>
        </p:nvSpPr>
        <p:spPr>
          <a:xfrm>
            <a:off x="4343400" y="2514600"/>
            <a:ext cx="3505200" cy="2994660"/>
          </a:xfrm>
          <a:prstGeom prst="roundRect">
            <a:avLst>
              <a:gd name="adj" fmla="val 4071"/>
            </a:avLst>
          </a:prstGeom>
          <a:solidFill>
            <a:srgbClr val="FFFFFF"/>
          </a:solidFill>
          <a:ln w="12700">
            <a:solidFill>
              <a:srgbClr val="FFFFFF">
                <a:alpha val="0"/>
              </a:srgbClr>
            </a:solidFill>
            <a:prstDash val="solid"/>
          </a:ln>
        </p:spPr>
      </p:sp>
      <p:sp>
        <p:nvSpPr>
          <p:cNvPr id="15" name="Text 13"/>
          <p:cNvSpPr/>
          <p:nvPr/>
        </p:nvSpPr>
        <p:spPr>
          <a:xfrm>
            <a:off x="45567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02 / COMPLEMENTARY</a:t>
            </a:r>
            <a:endParaRPr lang="en-US" sz="1080" dirty="0"/>
          </a:p>
        </p:txBody>
      </p:sp>
      <p:sp>
        <p:nvSpPr>
          <p:cNvPr id="16" name="Text 14"/>
          <p:cNvSpPr/>
          <p:nvPr/>
        </p:nvSpPr>
        <p:spPr>
          <a:xfrm>
            <a:off x="45567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Works beside the ERP</a:t>
            </a:r>
            <a:endParaRPr lang="en-US" sz="2160" dirty="0"/>
          </a:p>
        </p:txBody>
      </p:sp>
      <p:sp>
        <p:nvSpPr>
          <p:cNvPr id="17" name="Text 15"/>
          <p:cNvSpPr/>
          <p:nvPr/>
        </p:nvSpPr>
        <p:spPr>
          <a:xfrm>
            <a:off x="4556760" y="4091940"/>
            <a:ext cx="3078480" cy="12725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Read a normalized snapshot;</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return a reviewable recovery draft.</a:t>
            </a:r>
            <a:endParaRPr lang="en-US" sz="1500" dirty="0"/>
          </a:p>
        </p:txBody>
      </p:sp>
      <p:sp>
        <p:nvSpPr>
          <p:cNvPr id="18" name="Shape 16"/>
          <p:cNvSpPr/>
          <p:nvPr/>
        </p:nvSpPr>
        <p:spPr>
          <a:xfrm>
            <a:off x="8077200" y="2514600"/>
            <a:ext cx="3505200" cy="2994660"/>
          </a:xfrm>
          <a:prstGeom prst="roundRect">
            <a:avLst>
              <a:gd name="adj" fmla="val 4071"/>
            </a:avLst>
          </a:prstGeom>
          <a:solidFill>
            <a:srgbClr val="FFFFFF"/>
          </a:solidFill>
          <a:ln w="12700">
            <a:solidFill>
              <a:srgbClr val="FFFFFF">
                <a:alpha val="0"/>
              </a:srgbClr>
            </a:solidFill>
            <a:prstDash val="solid"/>
          </a:ln>
        </p:spPr>
      </p:sp>
      <p:sp>
        <p:nvSpPr>
          <p:cNvPr id="19" name="Text 17"/>
          <p:cNvSpPr/>
          <p:nvPr/>
        </p:nvSpPr>
        <p:spPr>
          <a:xfrm>
            <a:off x="82905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03 / DISTINCTIVE FOCUS</a:t>
            </a:r>
            <a:endParaRPr lang="en-US" sz="1080" dirty="0"/>
          </a:p>
        </p:txBody>
      </p:sp>
      <p:sp>
        <p:nvSpPr>
          <p:cNvPr id="20" name="Text 18"/>
          <p:cNvSpPr/>
          <p:nvPr/>
        </p:nvSpPr>
        <p:spPr>
          <a:xfrm>
            <a:off x="82905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Cash-aware recovery</a:t>
            </a:r>
            <a:endParaRPr lang="en-US" sz="2160" dirty="0"/>
          </a:p>
        </p:txBody>
      </p:sp>
      <p:sp>
        <p:nvSpPr>
          <p:cNvPr id="21" name="Text 19"/>
          <p:cNvSpPr/>
          <p:nvPr/>
        </p:nvSpPr>
        <p:spPr>
          <a:xfrm>
            <a:off x="8290560" y="4091940"/>
            <a:ext cx="3078480" cy="12725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Compare service impact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minimum daily cash before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approval.</a:t>
            </a:r>
            <a:endParaRPr lang="en-US" sz="1500" dirty="0"/>
          </a:p>
        </p:txBody>
      </p:sp>
      <p:sp>
        <p:nvSpPr>
          <p:cNvPr id="22" name="Text 20"/>
          <p:cNvSpPr/>
          <p:nvPr/>
        </p:nvSpPr>
        <p:spPr>
          <a:xfrm>
            <a:off x="609600" y="5699760"/>
            <a:ext cx="10972800" cy="32766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087F80"/>
                </a:solidFill>
                <a:latin typeface="Instrument Sans" pitchFamily="34" charset="0"/>
                <a:ea typeface="Instrument Sans" pitchFamily="34" charset="-122"/>
                <a:cs typeface="Instrument Sans" pitchFamily="34" charset="-120"/>
              </a:rPr>
              <a:t>Positioning: a recovery decision layer for the tools SMEs already use.</a:t>
            </a:r>
            <a:endParaRPr lang="en-US" sz="1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THE OWNER WORKFLOW</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From disruption to an auditable draft.</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04</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Every saved draft is bound to the reviewed source and scenario. The public MVP sends no order or payment.</a:t>
            </a:r>
            <a:endParaRPr lang="en-US" sz="1140" dirty="0"/>
          </a:p>
        </p:txBody>
      </p:sp>
      <p:sp>
        <p:nvSpPr>
          <p:cNvPr id="11" name="Shape 9"/>
          <p:cNvSpPr/>
          <p:nvPr/>
        </p:nvSpPr>
        <p:spPr>
          <a:xfrm>
            <a:off x="609600" y="2590800"/>
            <a:ext cx="411480" cy="411480"/>
          </a:xfrm>
          <a:prstGeom prst="ellipse">
            <a:avLst/>
          </a:prstGeom>
          <a:solidFill>
            <a:srgbClr val="087F80"/>
          </a:solidFill>
          <a:ln w="12700">
            <a:solidFill>
              <a:srgbClr val="333333">
                <a:alpha val="0"/>
              </a:srgbClr>
            </a:solidFill>
            <a:prstDash val="solid"/>
          </a:ln>
        </p:spPr>
      </p:sp>
      <p:sp>
        <p:nvSpPr>
          <p:cNvPr id="12" name="Text 10"/>
          <p:cNvSpPr/>
          <p:nvPr/>
        </p:nvSpPr>
        <p:spPr>
          <a:xfrm>
            <a:off x="63246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1</a:t>
            </a:r>
            <a:endParaRPr lang="en-US" sz="1680" dirty="0"/>
          </a:p>
        </p:txBody>
      </p:sp>
      <p:sp>
        <p:nvSpPr>
          <p:cNvPr id="13" name="Text 11"/>
          <p:cNvSpPr/>
          <p:nvPr/>
        </p:nvSpPr>
        <p:spPr>
          <a:xfrm>
            <a:off x="60960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Read</a:t>
            </a:r>
            <a:endParaRPr lang="en-US" sz="1980" dirty="0"/>
          </a:p>
        </p:txBody>
      </p:sp>
      <p:sp>
        <p:nvSpPr>
          <p:cNvPr id="14" name="Text 12"/>
          <p:cNvSpPr/>
          <p:nvPr/>
        </p:nvSpPr>
        <p:spPr>
          <a:xfrm>
            <a:off x="60960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Stock, sales,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scheduled cash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supplier terms.</a:t>
            </a:r>
            <a:endParaRPr lang="en-US" sz="1500" dirty="0"/>
          </a:p>
        </p:txBody>
      </p:sp>
      <p:sp>
        <p:nvSpPr>
          <p:cNvPr id="15" name="Shape 13"/>
          <p:cNvSpPr/>
          <p:nvPr/>
        </p:nvSpPr>
        <p:spPr>
          <a:xfrm>
            <a:off x="1143000" y="2796540"/>
            <a:ext cx="1516380" cy="0"/>
          </a:xfrm>
          <a:prstGeom prst="line">
            <a:avLst/>
          </a:prstGeom>
          <a:noFill/>
          <a:ln w="22860">
            <a:solidFill>
              <a:srgbClr val="CEDAD7"/>
            </a:solidFill>
            <a:prstDash val="solid"/>
          </a:ln>
        </p:spPr>
      </p:sp>
      <p:sp>
        <p:nvSpPr>
          <p:cNvPr id="16" name="Shape 14"/>
          <p:cNvSpPr/>
          <p:nvPr/>
        </p:nvSpPr>
        <p:spPr>
          <a:xfrm>
            <a:off x="2849880" y="2590800"/>
            <a:ext cx="411480" cy="411480"/>
          </a:xfrm>
          <a:prstGeom prst="ellipse">
            <a:avLst/>
          </a:prstGeom>
          <a:solidFill>
            <a:srgbClr val="087F80"/>
          </a:solidFill>
          <a:ln w="12700">
            <a:solidFill>
              <a:srgbClr val="333333">
                <a:alpha val="0"/>
              </a:srgbClr>
            </a:solidFill>
            <a:prstDash val="solid"/>
          </a:ln>
        </p:spPr>
      </p:sp>
      <p:sp>
        <p:nvSpPr>
          <p:cNvPr id="17" name="Text 15"/>
          <p:cNvSpPr/>
          <p:nvPr/>
        </p:nvSpPr>
        <p:spPr>
          <a:xfrm>
            <a:off x="287274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2</a:t>
            </a:r>
            <a:endParaRPr lang="en-US" sz="1680" dirty="0"/>
          </a:p>
        </p:txBody>
      </p:sp>
      <p:sp>
        <p:nvSpPr>
          <p:cNvPr id="18" name="Text 16"/>
          <p:cNvSpPr/>
          <p:nvPr/>
        </p:nvSpPr>
        <p:spPr>
          <a:xfrm>
            <a:off x="284988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Stress-test</a:t>
            </a:r>
            <a:endParaRPr lang="en-US" sz="1980" dirty="0"/>
          </a:p>
        </p:txBody>
      </p:sp>
      <p:sp>
        <p:nvSpPr>
          <p:cNvPr id="19" name="Text 17"/>
          <p:cNvSpPr/>
          <p:nvPr/>
        </p:nvSpPr>
        <p:spPr>
          <a:xfrm>
            <a:off x="284988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Delay, demand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freight under</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owner-set limits.</a:t>
            </a:r>
            <a:endParaRPr lang="en-US" sz="1500" dirty="0"/>
          </a:p>
        </p:txBody>
      </p:sp>
      <p:sp>
        <p:nvSpPr>
          <p:cNvPr id="20" name="Shape 18"/>
          <p:cNvSpPr/>
          <p:nvPr/>
        </p:nvSpPr>
        <p:spPr>
          <a:xfrm>
            <a:off x="3383280" y="2796540"/>
            <a:ext cx="1516380" cy="0"/>
          </a:xfrm>
          <a:prstGeom prst="line">
            <a:avLst/>
          </a:prstGeom>
          <a:noFill/>
          <a:ln w="22860">
            <a:solidFill>
              <a:srgbClr val="CEDAD7"/>
            </a:solidFill>
            <a:prstDash val="solid"/>
          </a:ln>
        </p:spPr>
      </p:sp>
      <p:sp>
        <p:nvSpPr>
          <p:cNvPr id="21" name="Shape 19"/>
          <p:cNvSpPr/>
          <p:nvPr/>
        </p:nvSpPr>
        <p:spPr>
          <a:xfrm>
            <a:off x="5090160" y="2590800"/>
            <a:ext cx="411480" cy="411480"/>
          </a:xfrm>
          <a:prstGeom prst="ellipse">
            <a:avLst/>
          </a:prstGeom>
          <a:solidFill>
            <a:srgbClr val="087F80"/>
          </a:solidFill>
          <a:ln w="12700">
            <a:solidFill>
              <a:srgbClr val="333333">
                <a:alpha val="0"/>
              </a:srgbClr>
            </a:solidFill>
            <a:prstDash val="solid"/>
          </a:ln>
        </p:spPr>
      </p:sp>
      <p:sp>
        <p:nvSpPr>
          <p:cNvPr id="22" name="Text 20"/>
          <p:cNvSpPr/>
          <p:nvPr/>
        </p:nvSpPr>
        <p:spPr>
          <a:xfrm>
            <a:off x="511302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3</a:t>
            </a:r>
            <a:endParaRPr lang="en-US" sz="1680" dirty="0"/>
          </a:p>
        </p:txBody>
      </p:sp>
      <p:sp>
        <p:nvSpPr>
          <p:cNvPr id="23" name="Text 21"/>
          <p:cNvSpPr/>
          <p:nvPr/>
        </p:nvSpPr>
        <p:spPr>
          <a:xfrm>
            <a:off x="509016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Compare</a:t>
            </a:r>
            <a:endParaRPr lang="en-US" sz="1980" dirty="0"/>
          </a:p>
        </p:txBody>
      </p:sp>
      <p:sp>
        <p:nvSpPr>
          <p:cNvPr id="24" name="Text 22"/>
          <p:cNvSpPr/>
          <p:nvPr/>
        </p:nvSpPr>
        <p:spPr>
          <a:xfrm>
            <a:off x="509016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Fulfilment, stockouts,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spend and daily cash.</a:t>
            </a:r>
            <a:endParaRPr lang="en-US" sz="1500" dirty="0"/>
          </a:p>
        </p:txBody>
      </p:sp>
      <p:sp>
        <p:nvSpPr>
          <p:cNvPr id="25" name="Shape 23"/>
          <p:cNvSpPr/>
          <p:nvPr/>
        </p:nvSpPr>
        <p:spPr>
          <a:xfrm>
            <a:off x="5623560" y="2796540"/>
            <a:ext cx="1516380" cy="0"/>
          </a:xfrm>
          <a:prstGeom prst="line">
            <a:avLst/>
          </a:prstGeom>
          <a:noFill/>
          <a:ln w="22860">
            <a:solidFill>
              <a:srgbClr val="CEDAD7"/>
            </a:solidFill>
            <a:prstDash val="solid"/>
          </a:ln>
        </p:spPr>
      </p:sp>
      <p:sp>
        <p:nvSpPr>
          <p:cNvPr id="26" name="Shape 24"/>
          <p:cNvSpPr/>
          <p:nvPr/>
        </p:nvSpPr>
        <p:spPr>
          <a:xfrm>
            <a:off x="7330440" y="2590800"/>
            <a:ext cx="411480" cy="411480"/>
          </a:xfrm>
          <a:prstGeom prst="ellipse">
            <a:avLst/>
          </a:prstGeom>
          <a:solidFill>
            <a:srgbClr val="087F80"/>
          </a:solidFill>
          <a:ln w="12700">
            <a:solidFill>
              <a:srgbClr val="333333">
                <a:alpha val="0"/>
              </a:srgbClr>
            </a:solidFill>
            <a:prstDash val="solid"/>
          </a:ln>
        </p:spPr>
      </p:sp>
      <p:sp>
        <p:nvSpPr>
          <p:cNvPr id="27" name="Text 25"/>
          <p:cNvSpPr/>
          <p:nvPr/>
        </p:nvSpPr>
        <p:spPr>
          <a:xfrm>
            <a:off x="735330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4</a:t>
            </a:r>
            <a:endParaRPr lang="en-US" sz="1680" dirty="0"/>
          </a:p>
        </p:txBody>
      </p:sp>
      <p:sp>
        <p:nvSpPr>
          <p:cNvPr id="28" name="Text 26"/>
          <p:cNvSpPr/>
          <p:nvPr/>
        </p:nvSpPr>
        <p:spPr>
          <a:xfrm>
            <a:off x="733044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Review</a:t>
            </a:r>
            <a:endParaRPr lang="en-US" sz="1980" dirty="0"/>
          </a:p>
        </p:txBody>
      </p:sp>
      <p:sp>
        <p:nvSpPr>
          <p:cNvPr id="29" name="Text 27"/>
          <p:cNvSpPr/>
          <p:nvPr/>
        </p:nvSpPr>
        <p:spPr>
          <a:xfrm>
            <a:off x="733044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Quantities, source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freshness and the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cash floor.</a:t>
            </a:r>
            <a:endParaRPr lang="en-US" sz="1500" dirty="0"/>
          </a:p>
        </p:txBody>
      </p:sp>
      <p:sp>
        <p:nvSpPr>
          <p:cNvPr id="30" name="Shape 28"/>
          <p:cNvSpPr/>
          <p:nvPr/>
        </p:nvSpPr>
        <p:spPr>
          <a:xfrm>
            <a:off x="7863840" y="2796540"/>
            <a:ext cx="1516380" cy="0"/>
          </a:xfrm>
          <a:prstGeom prst="line">
            <a:avLst/>
          </a:prstGeom>
          <a:noFill/>
          <a:ln w="22860">
            <a:solidFill>
              <a:srgbClr val="CEDAD7"/>
            </a:solidFill>
            <a:prstDash val="solid"/>
          </a:ln>
        </p:spPr>
      </p:sp>
      <p:sp>
        <p:nvSpPr>
          <p:cNvPr id="31" name="Shape 29"/>
          <p:cNvSpPr/>
          <p:nvPr/>
        </p:nvSpPr>
        <p:spPr>
          <a:xfrm>
            <a:off x="9570720" y="2590800"/>
            <a:ext cx="411480" cy="411480"/>
          </a:xfrm>
          <a:prstGeom prst="ellipse">
            <a:avLst/>
          </a:prstGeom>
          <a:solidFill>
            <a:srgbClr val="087F80"/>
          </a:solidFill>
          <a:ln w="12700">
            <a:solidFill>
              <a:srgbClr val="333333">
                <a:alpha val="0"/>
              </a:srgbClr>
            </a:solidFill>
            <a:prstDash val="solid"/>
          </a:ln>
        </p:spPr>
      </p:sp>
      <p:sp>
        <p:nvSpPr>
          <p:cNvPr id="32" name="Text 30"/>
          <p:cNvSpPr/>
          <p:nvPr/>
        </p:nvSpPr>
        <p:spPr>
          <a:xfrm>
            <a:off x="959358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5</a:t>
            </a:r>
            <a:endParaRPr lang="en-US" sz="1680" dirty="0"/>
          </a:p>
        </p:txBody>
      </p:sp>
      <p:sp>
        <p:nvSpPr>
          <p:cNvPr id="33" name="Text 31"/>
          <p:cNvSpPr/>
          <p:nvPr/>
        </p:nvSpPr>
        <p:spPr>
          <a:xfrm>
            <a:off x="957072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Approve</a:t>
            </a:r>
            <a:endParaRPr lang="en-US" sz="1980" dirty="0"/>
          </a:p>
        </p:txBody>
      </p:sp>
      <p:sp>
        <p:nvSpPr>
          <p:cNvPr id="34" name="Text 32"/>
          <p:cNvSpPr/>
          <p:nvPr/>
        </p:nvSpPr>
        <p:spPr>
          <a:xfrm>
            <a:off x="957072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Save an unsent draft</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and export its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evidence.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MEASURED SYNTHETIC RESULT</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recovery choice you can inspect.</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05</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Synthetic packaging fixture · 7-day delay · demand +20% · freight +25% · 130 evaluated combinations</a:t>
            </a:r>
            <a:endParaRPr lang="en-US" sz="1140" dirty="0"/>
          </a:p>
        </p:txBody>
      </p:sp>
      <p:sp>
        <p:nvSpPr>
          <p:cNvPr id="11" name="Shape 9"/>
          <p:cNvSpPr/>
          <p:nvPr/>
        </p:nvSpPr>
        <p:spPr>
          <a:xfrm>
            <a:off x="609600" y="2240280"/>
            <a:ext cx="2164080" cy="327660"/>
          </a:xfrm>
          <a:prstGeom prst="roundRect">
            <a:avLst>
              <a:gd name="adj" fmla="val 48837"/>
            </a:avLst>
          </a:prstGeom>
          <a:solidFill>
            <a:srgbClr val="D3EDE0"/>
          </a:solidFill>
          <a:ln w="12700">
            <a:solidFill>
              <a:srgbClr val="D3EDE0">
                <a:alpha val="0"/>
              </a:srgbClr>
            </a:solidFill>
            <a:prstDash val="solid"/>
          </a:ln>
        </p:spPr>
      </p:sp>
      <p:sp>
        <p:nvSpPr>
          <p:cNvPr id="12" name="Text 10"/>
          <p:cNvSpPr/>
          <p:nvPr/>
        </p:nvSpPr>
        <p:spPr>
          <a:xfrm>
            <a:off x="716280" y="2308860"/>
            <a:ext cx="195072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SYNTHETIC SIMULATION</a:t>
            </a:r>
            <a:endParaRPr lang="en-US" sz="1080" dirty="0"/>
          </a:p>
        </p:txBody>
      </p:sp>
      <p:sp>
        <p:nvSpPr>
          <p:cNvPr id="13" name="Text 11"/>
          <p:cNvSpPr/>
          <p:nvPr/>
        </p:nvSpPr>
        <p:spPr>
          <a:xfrm>
            <a:off x="609600" y="2849880"/>
            <a:ext cx="5486400" cy="24384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536D74"/>
                </a:solidFill>
                <a:latin typeface="Instrument Sans" pitchFamily="34" charset="0"/>
                <a:ea typeface="Instrument Sans" pitchFamily="34" charset="-122"/>
                <a:cs typeface="Instrument Sans" pitchFamily="34" charset="-120"/>
              </a:rPr>
              <a:t>PROJECTED UNITS FULFILLED</a:t>
            </a:r>
            <a:endParaRPr lang="en-US" sz="1200" dirty="0"/>
          </a:p>
        </p:txBody>
      </p:sp>
      <p:sp>
        <p:nvSpPr>
          <p:cNvPr id="14" name="Text 12"/>
          <p:cNvSpPr/>
          <p:nvPr/>
        </p:nvSpPr>
        <p:spPr>
          <a:xfrm>
            <a:off x="609600" y="3329940"/>
            <a:ext cx="1143000" cy="320040"/>
          </a:xfrm>
          <a:prstGeom prst="rect">
            <a:avLst/>
          </a:prstGeom>
          <a:noFill/>
          <a:ln/>
        </p:spPr>
        <p:txBody>
          <a:bodyPr wrap="square" lIns="0" tIns="0" rIns="0" bIns="0" rtlCol="0" anchor="t">
            <a:spAutoFit/>
          </a:bodyPr>
          <a:lstStyle/>
          <a:p>
            <a:pPr algn="l" indent="0" marL="0">
              <a:lnSpc>
                <a:spcPct val="100000"/>
              </a:lnSpc>
              <a:buNone/>
            </a:pPr>
            <a:r>
              <a:rPr lang="en-US" sz="1680" dirty="0">
                <a:solidFill>
                  <a:srgbClr val="536D74"/>
                </a:solidFill>
                <a:latin typeface="Instrument Sans" pitchFamily="34" charset="0"/>
                <a:ea typeface="Instrument Sans" pitchFamily="34" charset="-122"/>
                <a:cs typeface="Instrument Sans" pitchFamily="34" charset="-120"/>
              </a:rPr>
              <a:t>Wait</a:t>
            </a:r>
            <a:endParaRPr lang="en-US" sz="1680" dirty="0"/>
          </a:p>
        </p:txBody>
      </p:sp>
      <p:sp>
        <p:nvSpPr>
          <p:cNvPr id="15" name="Shape 13"/>
          <p:cNvSpPr/>
          <p:nvPr/>
        </p:nvSpPr>
        <p:spPr>
          <a:xfrm>
            <a:off x="1905000" y="3314700"/>
            <a:ext cx="3184791" cy="358140"/>
          </a:xfrm>
          <a:prstGeom prst="roundRect">
            <a:avLst>
              <a:gd name="adj" fmla="val 12766"/>
            </a:avLst>
          </a:prstGeom>
          <a:solidFill>
            <a:srgbClr val="B5D0CD"/>
          </a:solidFill>
          <a:ln w="12700">
            <a:solidFill>
              <a:srgbClr val="B5D0CD">
                <a:alpha val="0"/>
              </a:srgbClr>
            </a:solidFill>
            <a:prstDash val="solid"/>
          </a:ln>
        </p:spPr>
      </p:sp>
      <p:sp>
        <p:nvSpPr>
          <p:cNvPr id="16" name="Text 14"/>
          <p:cNvSpPr/>
          <p:nvPr/>
        </p:nvSpPr>
        <p:spPr>
          <a:xfrm>
            <a:off x="6477000" y="3307080"/>
            <a:ext cx="1447800" cy="419100"/>
          </a:xfrm>
          <a:prstGeom prst="rect">
            <a:avLst/>
          </a:prstGeom>
          <a:noFill/>
          <a:ln/>
        </p:spPr>
        <p:txBody>
          <a:bodyPr wrap="square" lIns="0" tIns="0" rIns="0" bIns="0" rtlCol="0" anchor="t">
            <a:spAutoFit/>
          </a:bodyPr>
          <a:lstStyle/>
          <a:p>
            <a:pPr algn="l" indent="0" marL="0">
              <a:lnSpc>
                <a:spcPct val="100000"/>
              </a:lnSpc>
              <a:buNone/>
            </a:pPr>
            <a:r>
              <a:rPr lang="en-US" sz="2100" b="1" dirty="0">
                <a:solidFill>
                  <a:srgbClr val="536D74"/>
                </a:solidFill>
                <a:latin typeface="Instrument Sans" pitchFamily="34" charset="0"/>
                <a:ea typeface="Instrument Sans" pitchFamily="34" charset="-122"/>
                <a:cs typeface="Instrument Sans" pitchFamily="34" charset="-120"/>
              </a:rPr>
              <a:t>990</a:t>
            </a:r>
            <a:endParaRPr lang="en-US" sz="2100" dirty="0"/>
          </a:p>
        </p:txBody>
      </p:sp>
      <p:sp>
        <p:nvSpPr>
          <p:cNvPr id="17" name="Text 15"/>
          <p:cNvSpPr/>
          <p:nvPr/>
        </p:nvSpPr>
        <p:spPr>
          <a:xfrm>
            <a:off x="609600" y="4023360"/>
            <a:ext cx="1143000" cy="32004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087F80"/>
                </a:solidFill>
                <a:latin typeface="Instrument Sans" pitchFamily="34" charset="0"/>
                <a:ea typeface="Instrument Sans" pitchFamily="34" charset="-122"/>
                <a:cs typeface="Instrument Sans" pitchFamily="34" charset="-120"/>
              </a:rPr>
              <a:t>Recover</a:t>
            </a:r>
            <a:endParaRPr lang="en-US" sz="1680" dirty="0"/>
          </a:p>
        </p:txBody>
      </p:sp>
      <p:sp>
        <p:nvSpPr>
          <p:cNvPr id="18" name="Shape 16"/>
          <p:cNvSpPr/>
          <p:nvPr/>
        </p:nvSpPr>
        <p:spPr>
          <a:xfrm>
            <a:off x="1905000" y="4015740"/>
            <a:ext cx="4381500" cy="358140"/>
          </a:xfrm>
          <a:prstGeom prst="roundRect">
            <a:avLst>
              <a:gd name="adj" fmla="val 12766"/>
            </a:avLst>
          </a:prstGeom>
          <a:solidFill>
            <a:srgbClr val="087F80"/>
          </a:solidFill>
          <a:ln w="12700">
            <a:solidFill>
              <a:srgbClr val="087F80">
                <a:alpha val="0"/>
              </a:srgbClr>
            </a:solidFill>
            <a:prstDash val="solid"/>
          </a:ln>
        </p:spPr>
      </p:sp>
      <p:sp>
        <p:nvSpPr>
          <p:cNvPr id="19" name="Text 17"/>
          <p:cNvSpPr/>
          <p:nvPr/>
        </p:nvSpPr>
        <p:spPr>
          <a:xfrm>
            <a:off x="6477000" y="4008120"/>
            <a:ext cx="1447800" cy="419100"/>
          </a:xfrm>
          <a:prstGeom prst="rect">
            <a:avLst/>
          </a:prstGeom>
          <a:noFill/>
          <a:ln/>
        </p:spPr>
        <p:txBody>
          <a:bodyPr wrap="square" lIns="0" tIns="0" rIns="0" bIns="0" rtlCol="0" anchor="t">
            <a:spAutoFit/>
          </a:bodyPr>
          <a:lstStyle/>
          <a:p>
            <a:pPr algn="l" indent="0" marL="0">
              <a:lnSpc>
                <a:spcPct val="100000"/>
              </a:lnSpc>
              <a:buNone/>
            </a:pPr>
            <a:r>
              <a:rPr lang="en-US" sz="2100" b="1" dirty="0">
                <a:solidFill>
                  <a:srgbClr val="087F80"/>
                </a:solidFill>
                <a:latin typeface="Instrument Sans" pitchFamily="34" charset="0"/>
                <a:ea typeface="Instrument Sans" pitchFamily="34" charset="-122"/>
                <a:cs typeface="Instrument Sans" pitchFamily="34" charset="-120"/>
              </a:rPr>
              <a:t>1,362</a:t>
            </a:r>
            <a:endParaRPr lang="en-US" sz="2100" dirty="0"/>
          </a:p>
        </p:txBody>
      </p:sp>
      <p:sp>
        <p:nvSpPr>
          <p:cNvPr id="20" name="Text 18"/>
          <p:cNvSpPr/>
          <p:nvPr/>
        </p:nvSpPr>
        <p:spPr>
          <a:xfrm>
            <a:off x="609600" y="4861560"/>
            <a:ext cx="6934200" cy="457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372 additional units served in this scenario</a:t>
            </a:r>
            <a:endParaRPr lang="en-US" sz="2160" dirty="0"/>
          </a:p>
        </p:txBody>
      </p:sp>
      <p:sp>
        <p:nvSpPr>
          <p:cNvPr id="21" name="Shape 19"/>
          <p:cNvSpPr/>
          <p:nvPr/>
        </p:nvSpPr>
        <p:spPr>
          <a:xfrm>
            <a:off x="8077200" y="2232660"/>
            <a:ext cx="3505200" cy="3276600"/>
          </a:xfrm>
          <a:prstGeom prst="roundRect">
            <a:avLst>
              <a:gd name="adj" fmla="val 4186"/>
            </a:avLst>
          </a:prstGeom>
          <a:solidFill>
            <a:srgbClr val="102F3A"/>
          </a:solidFill>
          <a:ln w="12700">
            <a:solidFill>
              <a:srgbClr val="102F3A">
                <a:alpha val="0"/>
              </a:srgbClr>
            </a:solidFill>
            <a:prstDash val="solid"/>
          </a:ln>
        </p:spPr>
      </p:sp>
      <p:sp>
        <p:nvSpPr>
          <p:cNvPr id="22" name="Text 20"/>
          <p:cNvSpPr/>
          <p:nvPr/>
        </p:nvSpPr>
        <p:spPr>
          <a:xfrm>
            <a:off x="8343900" y="2491740"/>
            <a:ext cx="2971800" cy="23622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RECOVERY PURCHASE</a:t>
            </a:r>
            <a:endParaRPr lang="en-US" sz="1080" dirty="0"/>
          </a:p>
        </p:txBody>
      </p:sp>
      <p:sp>
        <p:nvSpPr>
          <p:cNvPr id="23" name="Text 21"/>
          <p:cNvSpPr/>
          <p:nvPr/>
        </p:nvSpPr>
        <p:spPr>
          <a:xfrm>
            <a:off x="8343900" y="2887980"/>
            <a:ext cx="2971800" cy="533400"/>
          </a:xfrm>
          <a:prstGeom prst="rect">
            <a:avLst/>
          </a:prstGeom>
          <a:noFill/>
          <a:ln/>
        </p:spPr>
        <p:txBody>
          <a:bodyPr wrap="square" lIns="0" tIns="0" rIns="0" bIns="0" rtlCol="0" anchor="t">
            <a:spAutoFit/>
          </a:bodyPr>
          <a:lstStyle/>
          <a:p>
            <a:pPr algn="l" indent="0" marL="0">
              <a:lnSpc>
                <a:spcPct val="100000"/>
              </a:lnSpc>
              <a:buNone/>
            </a:pPr>
            <a:r>
              <a:rPr lang="en-US" sz="2880" b="1" dirty="0">
                <a:solidFill>
                  <a:srgbClr val="FFFFFF"/>
                </a:solidFill>
                <a:latin typeface="Bricolage Grotesque" pitchFamily="34" charset="0"/>
                <a:ea typeface="Bricolage Grotesque" pitchFamily="34" charset="-122"/>
                <a:cs typeface="Bricolage Grotesque" pitchFamily="34" charset="-120"/>
              </a:rPr>
              <a:t>AED 7,887.50</a:t>
            </a:r>
            <a:endParaRPr lang="en-US" sz="2880" dirty="0"/>
          </a:p>
        </p:txBody>
      </p:sp>
      <p:sp>
        <p:nvSpPr>
          <p:cNvPr id="24" name="Text 22"/>
          <p:cNvSpPr/>
          <p:nvPr/>
        </p:nvSpPr>
        <p:spPr>
          <a:xfrm>
            <a:off x="8343900" y="3558540"/>
            <a:ext cx="2971800" cy="327660"/>
          </a:xfrm>
          <a:prstGeom prst="rect">
            <a:avLst/>
          </a:prstGeom>
          <a:noFill/>
          <a:ln/>
        </p:spPr>
        <p:txBody>
          <a:bodyPr wrap="square" lIns="0" tIns="0" rIns="0" bIns="0" rtlCol="0" anchor="t">
            <a:spAutoFit/>
          </a:bodyPr>
          <a:lstStyle/>
          <a:p>
            <a:pPr algn="l" indent="0" marL="0">
              <a:lnSpc>
                <a:spcPct val="100000"/>
              </a:lnSpc>
              <a:buNone/>
            </a:pPr>
            <a:r>
              <a:rPr lang="en-US" sz="1620" dirty="0">
                <a:solidFill>
                  <a:srgbClr val="B5D0CD"/>
                </a:solidFill>
                <a:latin typeface="Instrument Sans" pitchFamily="34" charset="0"/>
                <a:ea typeface="Instrument Sans" pitchFamily="34" charset="-122"/>
                <a:cs typeface="Instrument Sans" pitchFamily="34" charset="-120"/>
              </a:rPr>
              <a:t>400 units · arrival day 4</a:t>
            </a:r>
            <a:endParaRPr lang="en-US" sz="1620" dirty="0"/>
          </a:p>
        </p:txBody>
      </p:sp>
      <p:sp>
        <p:nvSpPr>
          <p:cNvPr id="25" name="Shape 23"/>
          <p:cNvSpPr/>
          <p:nvPr/>
        </p:nvSpPr>
        <p:spPr>
          <a:xfrm>
            <a:off x="8343900" y="4053840"/>
            <a:ext cx="2971800" cy="0"/>
          </a:xfrm>
          <a:prstGeom prst="line">
            <a:avLst/>
          </a:prstGeom>
          <a:noFill/>
          <a:ln w="7620">
            <a:solidFill>
              <a:srgbClr val="B5D0CD"/>
            </a:solidFill>
            <a:prstDash val="solid"/>
          </a:ln>
        </p:spPr>
      </p:sp>
      <p:sp>
        <p:nvSpPr>
          <p:cNvPr id="26" name="Text 24"/>
          <p:cNvSpPr/>
          <p:nvPr/>
        </p:nvSpPr>
        <p:spPr>
          <a:xfrm>
            <a:off x="8343900" y="4244340"/>
            <a:ext cx="2971800" cy="472440"/>
          </a:xfrm>
          <a:prstGeom prst="rect">
            <a:avLst/>
          </a:prstGeom>
          <a:noFill/>
          <a:ln/>
        </p:spPr>
        <p:txBody>
          <a:bodyPr wrap="square" lIns="0" tIns="0" rIns="0" bIns="0" rtlCol="0" anchor="t">
            <a:spAutoFit/>
          </a:bodyPr>
          <a:lstStyle/>
          <a:p>
            <a:pPr algn="l" indent="0" marL="0">
              <a:lnSpc>
                <a:spcPct val="100000"/>
              </a:lnSpc>
              <a:buNone/>
            </a:pPr>
            <a:r>
              <a:rPr lang="en-US" sz="2520" b="1" dirty="0">
                <a:solidFill>
                  <a:srgbClr val="D3EDE0"/>
                </a:solidFill>
                <a:latin typeface="Bricolage Grotesque" pitchFamily="34" charset="0"/>
                <a:ea typeface="Bricolage Grotesque" pitchFamily="34" charset="-122"/>
                <a:cs typeface="Bricolage Grotesque" pitchFamily="34" charset="-120"/>
              </a:rPr>
              <a:t>AED 28,112.50</a:t>
            </a:r>
            <a:endParaRPr lang="en-US" sz="2520" dirty="0"/>
          </a:p>
        </p:txBody>
      </p:sp>
      <p:sp>
        <p:nvSpPr>
          <p:cNvPr id="27" name="Text 25"/>
          <p:cNvSpPr/>
          <p:nvPr/>
        </p:nvSpPr>
        <p:spPr>
          <a:xfrm>
            <a:off x="8343900" y="4823460"/>
            <a:ext cx="2971800" cy="434340"/>
          </a:xfrm>
          <a:prstGeom prst="rect">
            <a:avLst/>
          </a:prstGeom>
          <a:noFill/>
          <a:ln/>
        </p:spPr>
        <p:txBody>
          <a:bodyPr wrap="square" lIns="0" tIns="0" rIns="0" bIns="0" rtlCol="0" anchor="t">
            <a:spAutoFit/>
          </a:bodyPr>
          <a:lstStyle/>
          <a:p>
            <a:pPr algn="l" indent="0" marL="0">
              <a:lnSpc>
                <a:spcPct val="100000"/>
              </a:lnSpc>
              <a:buNone/>
            </a:pPr>
            <a:r>
              <a:rPr lang="en-US" sz="1380" dirty="0">
                <a:solidFill>
                  <a:srgbClr val="B5D0CD"/>
                </a:solidFill>
                <a:latin typeface="Instrument Sans" pitchFamily="34" charset="0"/>
                <a:ea typeface="Instrument Sans" pitchFamily="34" charset="-122"/>
                <a:cs typeface="Instrument Sans" pitchFamily="34" charset="-120"/>
              </a:rPr>
              <a:t>minimum cash vs AED 24,000 floor</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TECHNOLOGY THAT EARNS TRUST</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Forecast numerically.</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Decide within hard constraints.</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06</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Forecast output informs a scenario; constraint checks and explicit owner approval control the action.</a:t>
            </a:r>
            <a:endParaRPr lang="en-US" sz="1140" dirty="0"/>
          </a:p>
        </p:txBody>
      </p:sp>
      <p:sp>
        <p:nvSpPr>
          <p:cNvPr id="11" name="Shape 9"/>
          <p:cNvSpPr/>
          <p:nvPr/>
        </p:nvSpPr>
        <p:spPr>
          <a:xfrm>
            <a:off x="609600" y="2514600"/>
            <a:ext cx="3505200" cy="2987040"/>
          </a:xfrm>
          <a:prstGeom prst="roundRect">
            <a:avLst>
              <a:gd name="adj" fmla="val 4082"/>
            </a:avLst>
          </a:prstGeom>
          <a:solidFill>
            <a:srgbClr val="FFFFFF"/>
          </a:solidFill>
          <a:ln w="12700">
            <a:solidFill>
              <a:srgbClr val="FFFFFF">
                <a:alpha val="0"/>
              </a:srgbClr>
            </a:solidFill>
            <a:prstDash val="solid"/>
          </a:ln>
        </p:spPr>
      </p:sp>
      <p:sp>
        <p:nvSpPr>
          <p:cNvPr id="12" name="Text 10"/>
          <p:cNvSpPr/>
          <p:nvPr/>
        </p:nvSpPr>
        <p:spPr>
          <a:xfrm>
            <a:off x="8229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01 / FITTED ML</a:t>
            </a:r>
            <a:endParaRPr lang="en-US" sz="1080" dirty="0"/>
          </a:p>
        </p:txBody>
      </p:sp>
      <p:sp>
        <p:nvSpPr>
          <p:cNvPr id="13" name="Text 11"/>
          <p:cNvSpPr/>
          <p:nvPr/>
        </p:nvSpPr>
        <p:spPr>
          <a:xfrm>
            <a:off x="8229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Forecast with a</a:t>
            </a:r>
            <a:endParaRPr lang="en-US" sz="2160" dirty="0"/>
          </a:p>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visible comparator</a:t>
            </a:r>
            <a:endParaRPr lang="en-US" sz="2160" dirty="0"/>
          </a:p>
        </p:txBody>
      </p:sp>
      <p:sp>
        <p:nvSpPr>
          <p:cNvPr id="14" name="Text 12"/>
          <p:cNvSpPr/>
          <p:nvPr/>
        </p:nvSpPr>
        <p:spPr>
          <a:xfrm>
            <a:off x="822960" y="4091940"/>
            <a:ext cx="3078480" cy="126492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Weekday + trend ridge regression</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versus seasonal naive; labelled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fallback for sparse history.</a:t>
            </a:r>
            <a:endParaRPr lang="en-US" sz="1500" dirty="0"/>
          </a:p>
        </p:txBody>
      </p:sp>
      <p:sp>
        <p:nvSpPr>
          <p:cNvPr id="15" name="Shape 13"/>
          <p:cNvSpPr/>
          <p:nvPr/>
        </p:nvSpPr>
        <p:spPr>
          <a:xfrm>
            <a:off x="4343400" y="2514600"/>
            <a:ext cx="3505200" cy="2987040"/>
          </a:xfrm>
          <a:prstGeom prst="roundRect">
            <a:avLst>
              <a:gd name="adj" fmla="val 4082"/>
            </a:avLst>
          </a:prstGeom>
          <a:solidFill>
            <a:srgbClr val="FFFFFF"/>
          </a:solidFill>
          <a:ln w="12700">
            <a:solidFill>
              <a:srgbClr val="FFFFFF">
                <a:alpha val="0"/>
              </a:srgbClr>
            </a:solidFill>
            <a:prstDash val="solid"/>
          </a:ln>
        </p:spPr>
      </p:sp>
      <p:sp>
        <p:nvSpPr>
          <p:cNvPr id="16" name="Text 14"/>
          <p:cNvSpPr/>
          <p:nvPr/>
        </p:nvSpPr>
        <p:spPr>
          <a:xfrm>
            <a:off x="45567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02 / NUMERICAL ENGINE</a:t>
            </a:r>
            <a:endParaRPr lang="en-US" sz="1080" dirty="0"/>
          </a:p>
        </p:txBody>
      </p:sp>
      <p:sp>
        <p:nvSpPr>
          <p:cNvPr id="17" name="Text 15"/>
          <p:cNvSpPr/>
          <p:nvPr/>
        </p:nvSpPr>
        <p:spPr>
          <a:xfrm>
            <a:off x="45567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Simulate stock</a:t>
            </a:r>
            <a:endParaRPr lang="en-US" sz="2160" dirty="0"/>
          </a:p>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and daily cash</a:t>
            </a:r>
            <a:endParaRPr lang="en-US" sz="2160" dirty="0"/>
          </a:p>
        </p:txBody>
      </p:sp>
      <p:sp>
        <p:nvSpPr>
          <p:cNvPr id="18" name="Text 16"/>
          <p:cNvSpPr/>
          <p:nvPr/>
        </p:nvSpPr>
        <p:spPr>
          <a:xfrm>
            <a:off x="4556760" y="4091940"/>
            <a:ext cx="3078480" cy="126492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Bounded supplier combinations.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MOQ, pack, cap, lead time, quote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validity and cash floor.</a:t>
            </a:r>
            <a:endParaRPr lang="en-US" sz="1500" dirty="0"/>
          </a:p>
        </p:txBody>
      </p:sp>
      <p:sp>
        <p:nvSpPr>
          <p:cNvPr id="19" name="Shape 17"/>
          <p:cNvSpPr/>
          <p:nvPr/>
        </p:nvSpPr>
        <p:spPr>
          <a:xfrm>
            <a:off x="8077200" y="2514600"/>
            <a:ext cx="3505200" cy="2987040"/>
          </a:xfrm>
          <a:prstGeom prst="roundRect">
            <a:avLst>
              <a:gd name="adj" fmla="val 4082"/>
            </a:avLst>
          </a:prstGeom>
          <a:solidFill>
            <a:srgbClr val="102F3A"/>
          </a:solidFill>
          <a:ln w="12700">
            <a:solidFill>
              <a:srgbClr val="102F3A">
                <a:alpha val="0"/>
              </a:srgbClr>
            </a:solidFill>
            <a:prstDash val="solid"/>
          </a:ln>
        </p:spPr>
      </p:sp>
      <p:sp>
        <p:nvSpPr>
          <p:cNvPr id="20" name="Text 18"/>
          <p:cNvSpPr/>
          <p:nvPr/>
        </p:nvSpPr>
        <p:spPr>
          <a:xfrm>
            <a:off x="82905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03 / HUMAN AUTHORITY</a:t>
            </a:r>
            <a:endParaRPr lang="en-US" sz="1080" dirty="0"/>
          </a:p>
        </p:txBody>
      </p:sp>
      <p:sp>
        <p:nvSpPr>
          <p:cNvPr id="21" name="Text 19"/>
          <p:cNvSpPr/>
          <p:nvPr/>
        </p:nvSpPr>
        <p:spPr>
          <a:xfrm>
            <a:off x="82905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Explain, review</a:t>
            </a:r>
            <a:endParaRPr lang="en-US" sz="2160" dirty="0"/>
          </a:p>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and confirm</a:t>
            </a:r>
            <a:endParaRPr lang="en-US" sz="2160" dirty="0"/>
          </a:p>
        </p:txBody>
      </p:sp>
      <p:sp>
        <p:nvSpPr>
          <p:cNvPr id="22" name="Text 20"/>
          <p:cNvSpPr/>
          <p:nvPr/>
        </p:nvSpPr>
        <p:spPr>
          <a:xfrm>
            <a:off x="8290560" y="4091940"/>
            <a:ext cx="3078480" cy="126492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Traceable assumptions and</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version checks. The owner</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confirms the unsent recovery</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draft.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WORKING MVP</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mobile workbench,</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with a complete decision trail.</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07</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Shape 8"/>
          <p:cNvSpPr/>
          <p:nvPr/>
        </p:nvSpPr>
        <p:spPr>
          <a:xfrm>
            <a:off x="609600" y="2491740"/>
            <a:ext cx="4038600" cy="3093720"/>
          </a:xfrm>
          <a:prstGeom prst="roundRect">
            <a:avLst>
              <a:gd name="adj" fmla="val 4926"/>
            </a:avLst>
          </a:prstGeom>
          <a:solidFill>
            <a:srgbClr val="102F3A"/>
          </a:solidFill>
          <a:ln w="12700">
            <a:solidFill>
              <a:srgbClr val="102F3A">
                <a:alpha val="0"/>
              </a:srgbClr>
            </a:solidFill>
            <a:prstDash val="solid"/>
          </a:ln>
        </p:spPr>
      </p:sp>
      <p:pic>
        <p:nvPicPr>
          <p:cNvPr id="11" name="Image 0" descr="/Users/user/Documents/ChatGPT/Ignite Challenges/du-relay-web/pitch/assets/live-mvp.png">
            <a:hlinkClick r:id="rId2" tooltip=""/>
          </p:cNvPr>
          <p:cNvPicPr>
            <a:picLocks noChangeAspect="1"/>
          </p:cNvPicPr>
          <p:nvPr/>
        </p:nvPicPr>
        <p:blipFill>
          <a:blip r:embed="rId1"/>
          <a:stretch>
            <a:fillRect/>
          </a:stretch>
        </p:blipFill>
        <p:spPr>
          <a:xfrm>
            <a:off x="685800" y="2613660"/>
            <a:ext cx="3886200" cy="2697480"/>
          </a:xfrm>
          <a:prstGeom prst="rect">
            <a:avLst/>
          </a:prstGeom>
        </p:spPr>
      </p:pic>
      <p:sp>
        <p:nvSpPr>
          <p:cNvPr id="12" name="Text 9">
            <a:hlinkClick r:id="rId3" tooltip=""/>
          </p:cNvPr>
          <p:cNvSpPr/>
          <p:nvPr/>
        </p:nvSpPr>
        <p:spPr>
          <a:xfrm>
            <a:off x="800100" y="5379720"/>
            <a:ext cx="3733800" cy="198120"/>
          </a:xfrm>
          <a:prstGeom prst="rect">
            <a:avLst/>
          </a:prstGeom>
          <a:noFill/>
          <a:ln/>
        </p:spPr>
        <p:txBody>
          <a:bodyPr wrap="square" lIns="0" tIns="0" rIns="0" bIns="0" rtlCol="0" anchor="t">
            <a:spAutoFit/>
          </a:bodyPr>
          <a:lstStyle/>
          <a:p>
            <a:pPr algn="l" indent="0" marL="0">
              <a:lnSpc>
                <a:spcPct val="100000"/>
              </a:lnSpc>
              <a:buNone/>
            </a:pPr>
            <a:r>
              <a:rPr lang="en-US" sz="1020" u="sng" dirty="0">
                <a:solidFill>
                  <a:srgbClr val="D3EDE0"/>
                </a:solidFill>
                <a:latin typeface="Instrument Sans" pitchFamily="34" charset="0"/>
                <a:ea typeface="Instrument Sans" pitchFamily="34" charset="-122"/>
                <a:cs typeface="Instrument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 the live MVP · synthetic scenario</a:t>
            </a:r>
            <a:endParaRPr lang="en-US" sz="1020" dirty="0"/>
          </a:p>
        </p:txBody>
      </p:sp>
      <p:sp>
        <p:nvSpPr>
          <p:cNvPr id="13" name="Text 10"/>
          <p:cNvSpPr/>
          <p:nvPr/>
        </p:nvSpPr>
        <p:spPr>
          <a:xfrm>
            <a:off x="5295900" y="2514600"/>
            <a:ext cx="609600" cy="38100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Bricolage Grotesque" pitchFamily="34" charset="0"/>
                <a:ea typeface="Bricolage Grotesque" pitchFamily="34" charset="-122"/>
                <a:cs typeface="Bricolage Grotesque" pitchFamily="34" charset="-120"/>
              </a:rPr>
              <a:t>01</a:t>
            </a:r>
            <a:endParaRPr lang="en-US" sz="1980" dirty="0"/>
          </a:p>
        </p:txBody>
      </p:sp>
      <p:sp>
        <p:nvSpPr>
          <p:cNvPr id="14" name="Text 11"/>
          <p:cNvSpPr/>
          <p:nvPr/>
        </p:nvSpPr>
        <p:spPr>
          <a:xfrm>
            <a:off x="6096000" y="2514600"/>
            <a:ext cx="5334000" cy="36576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Instrument Sans" pitchFamily="34" charset="0"/>
                <a:ea typeface="Instrument Sans" pitchFamily="34" charset="-122"/>
                <a:cs typeface="Instrument Sans" pitchFamily="34" charset="-120"/>
              </a:rPr>
              <a:t>Compare clearly</a:t>
            </a:r>
            <a:endParaRPr lang="en-US" sz="1920" dirty="0"/>
          </a:p>
        </p:txBody>
      </p:sp>
      <p:sp>
        <p:nvSpPr>
          <p:cNvPr id="15" name="Text 12"/>
          <p:cNvSpPr/>
          <p:nvPr/>
        </p:nvSpPr>
        <p:spPr>
          <a:xfrm>
            <a:off x="6096000" y="2964180"/>
            <a:ext cx="5334000" cy="5715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Stock and cash curves, daily data and feasible options.</a:t>
            </a:r>
            <a:endParaRPr lang="en-US" sz="1500" dirty="0"/>
          </a:p>
        </p:txBody>
      </p:sp>
      <p:sp>
        <p:nvSpPr>
          <p:cNvPr id="16" name="Text 13"/>
          <p:cNvSpPr/>
          <p:nvPr/>
        </p:nvSpPr>
        <p:spPr>
          <a:xfrm>
            <a:off x="5295900" y="3589020"/>
            <a:ext cx="609600" cy="38100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Bricolage Grotesque" pitchFamily="34" charset="0"/>
                <a:ea typeface="Bricolage Grotesque" pitchFamily="34" charset="-122"/>
                <a:cs typeface="Bricolage Grotesque" pitchFamily="34" charset="-120"/>
              </a:rPr>
              <a:t>02</a:t>
            </a:r>
            <a:endParaRPr lang="en-US" sz="1980" dirty="0"/>
          </a:p>
        </p:txBody>
      </p:sp>
      <p:sp>
        <p:nvSpPr>
          <p:cNvPr id="17" name="Text 14"/>
          <p:cNvSpPr/>
          <p:nvPr/>
        </p:nvSpPr>
        <p:spPr>
          <a:xfrm>
            <a:off x="6096000" y="3589020"/>
            <a:ext cx="5334000" cy="36576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Instrument Sans" pitchFamily="34" charset="0"/>
                <a:ea typeface="Instrument Sans" pitchFamily="34" charset="-122"/>
                <a:cs typeface="Instrument Sans" pitchFamily="34" charset="-120"/>
              </a:rPr>
              <a:t>Review deliberately</a:t>
            </a:r>
            <a:endParaRPr lang="en-US" sz="1920" dirty="0"/>
          </a:p>
        </p:txBody>
      </p:sp>
      <p:sp>
        <p:nvSpPr>
          <p:cNvPr id="18" name="Text 15"/>
          <p:cNvSpPr/>
          <p:nvPr/>
        </p:nvSpPr>
        <p:spPr>
          <a:xfrm>
            <a:off x="6096000" y="4038600"/>
            <a:ext cx="5334000" cy="5715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Confirmation, stale-source blocks and duplicate protection.</a:t>
            </a:r>
            <a:endParaRPr lang="en-US" sz="1500" dirty="0"/>
          </a:p>
        </p:txBody>
      </p:sp>
      <p:sp>
        <p:nvSpPr>
          <p:cNvPr id="19" name="Text 16"/>
          <p:cNvSpPr/>
          <p:nvPr/>
        </p:nvSpPr>
        <p:spPr>
          <a:xfrm>
            <a:off x="5295900" y="4663440"/>
            <a:ext cx="609600" cy="38100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Bricolage Grotesque" pitchFamily="34" charset="0"/>
                <a:ea typeface="Bricolage Grotesque" pitchFamily="34" charset="-122"/>
                <a:cs typeface="Bricolage Grotesque" pitchFamily="34" charset="-120"/>
              </a:rPr>
              <a:t>03</a:t>
            </a:r>
            <a:endParaRPr lang="en-US" sz="1980" dirty="0"/>
          </a:p>
        </p:txBody>
      </p:sp>
      <p:sp>
        <p:nvSpPr>
          <p:cNvPr id="20" name="Text 17"/>
          <p:cNvSpPr/>
          <p:nvPr/>
        </p:nvSpPr>
        <p:spPr>
          <a:xfrm>
            <a:off x="6096000" y="4663440"/>
            <a:ext cx="5334000" cy="36576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Instrument Sans" pitchFamily="34" charset="0"/>
                <a:ea typeface="Instrument Sans" pitchFamily="34" charset="-122"/>
                <a:cs typeface="Instrument Sans" pitchFamily="34" charset="-120"/>
              </a:rPr>
              <a:t>Keep the evidence</a:t>
            </a:r>
            <a:endParaRPr lang="en-US" sz="1920" dirty="0"/>
          </a:p>
        </p:txBody>
      </p:sp>
      <p:sp>
        <p:nvSpPr>
          <p:cNvPr id="21" name="Text 18"/>
          <p:cNvSpPr/>
          <p:nvPr/>
        </p:nvSpPr>
        <p:spPr>
          <a:xfrm>
            <a:off x="6096000" y="5113020"/>
            <a:ext cx="5334000" cy="5715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Persisted drafts, readable audit history and portable JSON.</a:t>
            </a:r>
            <a:endParaRPr lang="en-US" sz="1500" dirty="0"/>
          </a:p>
        </p:txBody>
      </p:sp>
      <p:sp>
        <p:nvSpPr>
          <p:cNvPr id="22" name="Text 19"/>
          <p:cNvSpPr/>
          <p:nvPr/>
        </p:nvSpPr>
        <p:spPr>
          <a:xfrm>
            <a:off x="609600" y="5722620"/>
            <a:ext cx="1181100" cy="22098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LIVE MVP</a:t>
            </a:r>
            <a:endParaRPr lang="en-US" sz="1080" dirty="0"/>
          </a:p>
        </p:txBody>
      </p:sp>
      <p:sp>
        <p:nvSpPr>
          <p:cNvPr id="23" name="Text 20">
            <a:hlinkClick r:id="rId4" tooltip=""/>
          </p:cNvPr>
          <p:cNvSpPr/>
          <p:nvPr/>
        </p:nvSpPr>
        <p:spPr>
          <a:xfrm>
            <a:off x="1905000" y="5722620"/>
            <a:ext cx="9677400" cy="220980"/>
          </a:xfrm>
          <a:prstGeom prst="rect">
            <a:avLst/>
          </a:prstGeom>
          <a:noFill/>
          <a:ln/>
        </p:spPr>
        <p:txBody>
          <a:bodyPr wrap="square" lIns="0" tIns="0" rIns="0" bIns="0" rtlCol="0" anchor="t">
            <a:spAutoFit/>
          </a:bodyPr>
          <a:lstStyle/>
          <a:p>
            <a:pPr algn="l" indent="0" marL="0">
              <a:lnSpc>
                <a:spcPct val="100000"/>
              </a:lnSpc>
              <a:buNone/>
            </a:pPr>
            <a:r>
              <a:rPr lang="en-US" sz="1200" u="sng" dirty="0">
                <a:solidFill>
                  <a:srgbClr val="102F3A"/>
                </a:solidFill>
                <a:latin typeface="Instrument Sans" pitchFamily="34" charset="0"/>
                <a:ea typeface="Instrument Sans" pitchFamily="34" charset="-122"/>
                <a:cs typeface="Instrument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https://duignytemvp.aqionlabs.workers.dev</a:t>
            </a:r>
            <a:endParaRPr lang="en-US" sz="1200" dirty="0"/>
          </a:p>
        </p:txBody>
      </p:sp>
      <p:sp>
        <p:nvSpPr>
          <p:cNvPr id="24" name="Text 21"/>
          <p:cNvSpPr/>
          <p:nvPr/>
        </p:nvSpPr>
        <p:spPr>
          <a:xfrm>
            <a:off x="609600" y="5996940"/>
            <a:ext cx="1181100" cy="22098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GITHUB</a:t>
            </a:r>
            <a:endParaRPr lang="en-US" sz="1080" dirty="0"/>
          </a:p>
        </p:txBody>
      </p:sp>
      <p:sp>
        <p:nvSpPr>
          <p:cNvPr id="25" name="Text 22">
            <a:hlinkClick r:id="rId5" tooltip=""/>
          </p:cNvPr>
          <p:cNvSpPr/>
          <p:nvPr/>
        </p:nvSpPr>
        <p:spPr>
          <a:xfrm>
            <a:off x="1905000" y="5996940"/>
            <a:ext cx="9677400" cy="220980"/>
          </a:xfrm>
          <a:prstGeom prst="rect">
            <a:avLst/>
          </a:prstGeom>
          <a:noFill/>
          <a:ln/>
        </p:spPr>
        <p:txBody>
          <a:bodyPr wrap="square" lIns="0" tIns="0" rIns="0" bIns="0" rtlCol="0" anchor="t">
            <a:spAutoFit/>
          </a:bodyPr>
          <a:lstStyle/>
          <a:p>
            <a:pPr algn="l" indent="0" marL="0">
              <a:lnSpc>
                <a:spcPct val="100000"/>
              </a:lnSpc>
              <a:buNone/>
            </a:pPr>
            <a:r>
              <a:rPr lang="en-US" sz="1200" u="sng" dirty="0">
                <a:solidFill>
                  <a:srgbClr val="102F3A"/>
                </a:solidFill>
                <a:latin typeface="Instrument Sans" pitchFamily="34" charset="0"/>
                <a:ea typeface="Instrument Sans" pitchFamily="34" charset="-122"/>
                <a:cs typeface="Instrument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https://github.com/Jaferdecodesai/DuIgnyteMVP_Aqionlabs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CLOUDFLARE MVP ARCHITECTURE</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One deployment.</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Persistent, isolated demo workspaces.</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08</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S06 · S07 · 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Live scope: synthetic data and unsent drafts. Enterprise identity, ERP credentials and live writes enter through pilot gates.</a:t>
            </a:r>
            <a:endParaRPr lang="en-US" sz="1140" dirty="0"/>
          </a:p>
        </p:txBody>
      </p:sp>
      <p:sp>
        <p:nvSpPr>
          <p:cNvPr id="11" name="Shape 9"/>
          <p:cNvSpPr/>
          <p:nvPr/>
        </p:nvSpPr>
        <p:spPr>
          <a:xfrm>
            <a:off x="609600" y="2628900"/>
            <a:ext cx="3048000" cy="2057400"/>
          </a:xfrm>
          <a:prstGeom prst="roundRect">
            <a:avLst>
              <a:gd name="adj" fmla="val 5926"/>
            </a:avLst>
          </a:prstGeom>
          <a:solidFill>
            <a:srgbClr val="FFFFFF"/>
          </a:solidFill>
          <a:ln w="12700">
            <a:solidFill>
              <a:srgbClr val="FFFFFF">
                <a:alpha val="0"/>
              </a:srgbClr>
            </a:solidFill>
            <a:prstDash val="solid"/>
          </a:ln>
        </p:spPr>
      </p:sp>
      <p:sp>
        <p:nvSpPr>
          <p:cNvPr id="12" name="Text 10"/>
          <p:cNvSpPr/>
          <p:nvPr/>
        </p:nvSpPr>
        <p:spPr>
          <a:xfrm>
            <a:off x="815340" y="2857500"/>
            <a:ext cx="2636520" cy="2667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MOBILE WEB</a:t>
            </a:r>
            <a:endParaRPr lang="en-US" sz="1080" dirty="0"/>
          </a:p>
        </p:txBody>
      </p:sp>
      <p:sp>
        <p:nvSpPr>
          <p:cNvPr id="13" name="Text 11"/>
          <p:cNvSpPr/>
          <p:nvPr/>
        </p:nvSpPr>
        <p:spPr>
          <a:xfrm>
            <a:off x="815340" y="3337560"/>
            <a:ext cx="2636520" cy="51054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Next / React UI</a:t>
            </a:r>
            <a:endParaRPr lang="en-US" sz="2040" dirty="0"/>
          </a:p>
        </p:txBody>
      </p:sp>
      <p:sp>
        <p:nvSpPr>
          <p:cNvPr id="14" name="Text 12"/>
          <p:cNvSpPr/>
          <p:nvPr/>
        </p:nvSpPr>
        <p:spPr>
          <a:xfrm>
            <a:off x="815340" y="4000500"/>
            <a:ext cx="2636520" cy="57912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Responsive workbench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Accessible table alternative</a:t>
            </a:r>
            <a:endParaRPr lang="en-US" sz="1440" dirty="0"/>
          </a:p>
        </p:txBody>
      </p:sp>
      <p:sp>
        <p:nvSpPr>
          <p:cNvPr id="15" name="Shape 13"/>
          <p:cNvSpPr/>
          <p:nvPr/>
        </p:nvSpPr>
        <p:spPr>
          <a:xfrm>
            <a:off x="4572000" y="2628900"/>
            <a:ext cx="3048000" cy="2057400"/>
          </a:xfrm>
          <a:prstGeom prst="roundRect">
            <a:avLst>
              <a:gd name="adj" fmla="val 5926"/>
            </a:avLst>
          </a:prstGeom>
          <a:solidFill>
            <a:srgbClr val="FFFFFF"/>
          </a:solidFill>
          <a:ln w="12700">
            <a:solidFill>
              <a:srgbClr val="FFFFFF">
                <a:alpha val="0"/>
              </a:srgbClr>
            </a:solidFill>
            <a:prstDash val="solid"/>
          </a:ln>
        </p:spPr>
      </p:sp>
      <p:sp>
        <p:nvSpPr>
          <p:cNvPr id="16" name="Text 14"/>
          <p:cNvSpPr/>
          <p:nvPr/>
        </p:nvSpPr>
        <p:spPr>
          <a:xfrm>
            <a:off x="4777740" y="2857500"/>
            <a:ext cx="2636520" cy="2667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CLOUDFLARE WORKER</a:t>
            </a:r>
            <a:endParaRPr lang="en-US" sz="1080" dirty="0"/>
          </a:p>
        </p:txBody>
      </p:sp>
      <p:sp>
        <p:nvSpPr>
          <p:cNvPr id="17" name="Text 15"/>
          <p:cNvSpPr/>
          <p:nvPr/>
        </p:nvSpPr>
        <p:spPr>
          <a:xfrm>
            <a:off x="4777740" y="3337560"/>
            <a:ext cx="2636520" cy="51054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Assets + API routing</a:t>
            </a:r>
            <a:endParaRPr lang="en-US" sz="2040" dirty="0"/>
          </a:p>
        </p:txBody>
      </p:sp>
      <p:sp>
        <p:nvSpPr>
          <p:cNvPr id="18" name="Text 16"/>
          <p:cNvSpPr/>
          <p:nvPr/>
        </p:nvSpPr>
        <p:spPr>
          <a:xfrm>
            <a:off x="4777740" y="4000500"/>
            <a:ext cx="2636520" cy="57912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Serve the React workbench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Route the workspace request</a:t>
            </a:r>
            <a:endParaRPr lang="en-US" sz="1440" dirty="0"/>
          </a:p>
        </p:txBody>
      </p:sp>
      <p:sp>
        <p:nvSpPr>
          <p:cNvPr id="19" name="Shape 17"/>
          <p:cNvSpPr/>
          <p:nvPr/>
        </p:nvSpPr>
        <p:spPr>
          <a:xfrm>
            <a:off x="8534400" y="2628900"/>
            <a:ext cx="3048000" cy="2057400"/>
          </a:xfrm>
          <a:prstGeom prst="roundRect">
            <a:avLst>
              <a:gd name="adj" fmla="val 5926"/>
            </a:avLst>
          </a:prstGeom>
          <a:solidFill>
            <a:srgbClr val="FFFFFF"/>
          </a:solidFill>
          <a:ln w="12700">
            <a:solidFill>
              <a:srgbClr val="FFFFFF">
                <a:alpha val="0"/>
              </a:srgbClr>
            </a:solidFill>
            <a:prstDash val="solid"/>
          </a:ln>
        </p:spPr>
      </p:sp>
      <p:sp>
        <p:nvSpPr>
          <p:cNvPr id="20" name="Text 18"/>
          <p:cNvSpPr/>
          <p:nvPr/>
        </p:nvSpPr>
        <p:spPr>
          <a:xfrm>
            <a:off x="8740140" y="2857500"/>
            <a:ext cx="2636520" cy="2667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DURABLE OBJECT</a:t>
            </a:r>
            <a:endParaRPr lang="en-US" sz="1080" dirty="0"/>
          </a:p>
        </p:txBody>
      </p:sp>
      <p:sp>
        <p:nvSpPr>
          <p:cNvPr id="21" name="Text 19"/>
          <p:cNvSpPr/>
          <p:nvPr/>
        </p:nvSpPr>
        <p:spPr>
          <a:xfrm>
            <a:off x="8740140" y="3337560"/>
            <a:ext cx="2636520" cy="51054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Engine + SQLite</a:t>
            </a:r>
            <a:endParaRPr lang="en-US" sz="2040" dirty="0"/>
          </a:p>
        </p:txBody>
      </p:sp>
      <p:sp>
        <p:nvSpPr>
          <p:cNvPr id="22" name="Text 20"/>
          <p:cNvSpPr/>
          <p:nvPr/>
        </p:nvSpPr>
        <p:spPr>
          <a:xfrm>
            <a:off x="8740140" y="4000500"/>
            <a:ext cx="2636520" cy="57912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Forecast, simulate, approve</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Atomic state + draft + audit</a:t>
            </a:r>
            <a:endParaRPr lang="en-US" sz="1440" dirty="0"/>
          </a:p>
        </p:txBody>
      </p:sp>
      <p:sp>
        <p:nvSpPr>
          <p:cNvPr id="23" name="Shape 21"/>
          <p:cNvSpPr/>
          <p:nvPr/>
        </p:nvSpPr>
        <p:spPr>
          <a:xfrm>
            <a:off x="3657600" y="3619500"/>
            <a:ext cx="800100" cy="0"/>
          </a:xfrm>
          <a:prstGeom prst="line">
            <a:avLst/>
          </a:prstGeom>
          <a:noFill/>
          <a:ln w="30480">
            <a:solidFill>
              <a:srgbClr val="087F80"/>
            </a:solidFill>
            <a:prstDash val="solid"/>
          </a:ln>
        </p:spPr>
      </p:sp>
      <p:sp>
        <p:nvSpPr>
          <p:cNvPr id="24" name="Shape 22"/>
          <p:cNvSpPr/>
          <p:nvPr/>
        </p:nvSpPr>
        <p:spPr>
          <a:xfrm>
            <a:off x="7620000" y="3619500"/>
            <a:ext cx="800100" cy="0"/>
          </a:xfrm>
          <a:prstGeom prst="line">
            <a:avLst/>
          </a:prstGeom>
          <a:noFill/>
          <a:ln w="30480">
            <a:solidFill>
              <a:srgbClr val="087F80"/>
            </a:solidFill>
            <a:prstDash val="solid"/>
          </a:ln>
        </p:spPr>
      </p:sp>
      <p:sp>
        <p:nvSpPr>
          <p:cNvPr id="25" name="Shape 23"/>
          <p:cNvSpPr/>
          <p:nvPr/>
        </p:nvSpPr>
        <p:spPr>
          <a:xfrm>
            <a:off x="60960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26" name="Text 24"/>
          <p:cNvSpPr/>
          <p:nvPr/>
        </p:nvSpPr>
        <p:spPr>
          <a:xfrm>
            <a:off x="71628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Signed session + CSRF</a:t>
            </a:r>
            <a:endParaRPr lang="en-US" sz="1080" dirty="0"/>
          </a:p>
        </p:txBody>
      </p:sp>
      <p:sp>
        <p:nvSpPr>
          <p:cNvPr id="27" name="Shape 25"/>
          <p:cNvSpPr/>
          <p:nvPr/>
        </p:nvSpPr>
        <p:spPr>
          <a:xfrm>
            <a:off x="341376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28" name="Text 26"/>
          <p:cNvSpPr/>
          <p:nvPr/>
        </p:nvSpPr>
        <p:spPr>
          <a:xfrm>
            <a:off x="352044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Bounded input + safe errors</a:t>
            </a:r>
            <a:endParaRPr lang="en-US" sz="1080" dirty="0"/>
          </a:p>
        </p:txBody>
      </p:sp>
      <p:sp>
        <p:nvSpPr>
          <p:cNvPr id="29" name="Shape 27"/>
          <p:cNvSpPr/>
          <p:nvPr/>
        </p:nvSpPr>
        <p:spPr>
          <a:xfrm>
            <a:off x="621792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30" name="Text 28"/>
          <p:cNvSpPr/>
          <p:nvPr/>
        </p:nvSpPr>
        <p:spPr>
          <a:xfrm>
            <a:off x="632460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Version-bound approval</a:t>
            </a:r>
            <a:endParaRPr lang="en-US" sz="1080" dirty="0"/>
          </a:p>
        </p:txBody>
      </p:sp>
      <p:sp>
        <p:nvSpPr>
          <p:cNvPr id="31" name="Shape 29"/>
          <p:cNvSpPr/>
          <p:nvPr/>
        </p:nvSpPr>
        <p:spPr>
          <a:xfrm>
            <a:off x="902208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32" name="Text 30"/>
          <p:cNvSpPr/>
          <p:nvPr/>
        </p:nvSpPr>
        <p:spPr>
          <a:xfrm>
            <a:off x="912876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Human confirmation</a:t>
            </a:r>
            <a:endParaRPr lang="en-US" sz="1080" dirty="0"/>
          </a:p>
        </p:txBody>
      </p:sp>
      <p:sp>
        <p:nvSpPr>
          <p:cNvPr id="33" name="Text 31"/>
          <p:cNvSpPr/>
          <p:nvPr/>
        </p:nvSpPr>
        <p:spPr>
          <a:xfrm>
            <a:off x="609600" y="5638800"/>
            <a:ext cx="156210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SYSTEM DESIGN</a:t>
            </a:r>
            <a:endParaRPr lang="en-US" sz="1080" dirty="0"/>
          </a:p>
        </p:txBody>
      </p:sp>
      <p:sp>
        <p:nvSpPr>
          <p:cNvPr id="34" name="Text 32">
            <a:hlinkClick r:id="rId1" tooltip=""/>
          </p:cNvPr>
          <p:cNvSpPr/>
          <p:nvPr/>
        </p:nvSpPr>
        <p:spPr>
          <a:xfrm>
            <a:off x="2286000" y="5638800"/>
            <a:ext cx="9296400" cy="228600"/>
          </a:xfrm>
          <a:prstGeom prst="rect">
            <a:avLst/>
          </a:prstGeom>
          <a:noFill/>
          <a:ln/>
        </p:spPr>
        <p:txBody>
          <a:bodyPr wrap="square" lIns="0" tIns="0" rIns="0" bIns="0" rtlCol="0" anchor="t">
            <a:spAutoFit/>
          </a:bodyPr>
          <a:lstStyle/>
          <a:p>
            <a:pPr algn="l" indent="0" marL="0">
              <a:lnSpc>
                <a:spcPct val="100000"/>
              </a:lnSpc>
              <a:buNone/>
            </a:pPr>
            <a:r>
              <a:rPr lang="en-US" sz="1080" u="sng" dirty="0">
                <a:solidFill>
                  <a:srgbClr val="102F3A"/>
                </a:solidFill>
                <a:latin typeface="Instrument Sans" pitchFamily="34" charset="0"/>
                <a:ea typeface="Instrument Sans" pitchFamily="34" charset="-122"/>
                <a:cs typeface="Instrument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https://github.com/Jaferdecodesai/DuIgnyteMVP_Aqionlabs/blob/main/Aqion-Relay-System-Design.docx</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TECHNOLOGY INTEGRATION ROADMAP</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Read first. Reconcile every write.</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Then expand through du.</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09</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S05 · S09</a:t>
            </a:r>
            <a:endParaRPr lang="en-US" sz="900" dirty="0"/>
          </a:p>
        </p:txBody>
      </p:sp>
      <p:sp>
        <p:nvSpPr>
          <p:cNvPr id="10" name="Shape 8"/>
          <p:cNvSpPr/>
          <p:nvPr/>
        </p:nvSpPr>
        <p:spPr>
          <a:xfrm>
            <a:off x="60960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11" name="Text 9"/>
          <p:cNvSpPr/>
          <p:nvPr/>
        </p:nvSpPr>
        <p:spPr>
          <a:xfrm>
            <a:off x="80010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1–2</a:t>
            </a:r>
            <a:endParaRPr lang="en-US" sz="1140" dirty="0"/>
          </a:p>
        </p:txBody>
      </p:sp>
      <p:sp>
        <p:nvSpPr>
          <p:cNvPr id="12" name="Text 10"/>
          <p:cNvSpPr/>
          <p:nvPr/>
        </p:nvSpPr>
        <p:spPr>
          <a:xfrm>
            <a:off x="80010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Map + authorize</a:t>
            </a:r>
            <a:endParaRPr lang="en-US" sz="2040" dirty="0"/>
          </a:p>
        </p:txBody>
      </p:sp>
      <p:sp>
        <p:nvSpPr>
          <p:cNvPr id="13" name="Text 11"/>
          <p:cNvSpPr/>
          <p:nvPr/>
        </p:nvSpPr>
        <p:spPr>
          <a:xfrm>
            <a:off x="80010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Consented snapshots,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terms and source IDs</a:t>
            </a:r>
            <a:endParaRPr lang="en-US" sz="1500" dirty="0"/>
          </a:p>
        </p:txBody>
      </p:sp>
      <p:sp>
        <p:nvSpPr>
          <p:cNvPr id="14" name="Text 12"/>
          <p:cNvSpPr/>
          <p:nvPr/>
        </p:nvSpPr>
        <p:spPr>
          <a:xfrm>
            <a:off x="80010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data + security sign-off</a:t>
            </a:r>
            <a:endParaRPr lang="en-US" sz="1200" dirty="0"/>
          </a:p>
        </p:txBody>
      </p:sp>
      <p:sp>
        <p:nvSpPr>
          <p:cNvPr id="15" name="Shape 13"/>
          <p:cNvSpPr/>
          <p:nvPr/>
        </p:nvSpPr>
        <p:spPr>
          <a:xfrm>
            <a:off x="341376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16" name="Text 14"/>
          <p:cNvSpPr/>
          <p:nvPr/>
        </p:nvSpPr>
        <p:spPr>
          <a:xfrm>
            <a:off x="360426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3–4</a:t>
            </a:r>
            <a:endParaRPr lang="en-US" sz="1140" dirty="0"/>
          </a:p>
        </p:txBody>
      </p:sp>
      <p:sp>
        <p:nvSpPr>
          <p:cNvPr id="17" name="Text 15"/>
          <p:cNvSpPr/>
          <p:nvPr/>
        </p:nvSpPr>
        <p:spPr>
          <a:xfrm>
            <a:off x="360426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Connect</a:t>
            </a:r>
            <a:endParaRPr lang="en-US" sz="2040" dirty="0"/>
          </a:p>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read-only</a:t>
            </a:r>
            <a:endParaRPr lang="en-US" sz="2040" dirty="0"/>
          </a:p>
        </p:txBody>
      </p:sp>
      <p:sp>
        <p:nvSpPr>
          <p:cNvPr id="18" name="Text 16"/>
          <p:cNvSpPr/>
          <p:nvPr/>
        </p:nvSpPr>
        <p:spPr>
          <a:xfrm>
            <a:off x="360426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Zoho stock, sales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scheduled cash</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mapping</a:t>
            </a:r>
            <a:endParaRPr lang="en-US" sz="1500" dirty="0"/>
          </a:p>
        </p:txBody>
      </p:sp>
      <p:sp>
        <p:nvSpPr>
          <p:cNvPr id="19" name="Text 17"/>
          <p:cNvSpPr/>
          <p:nvPr/>
        </p:nvSpPr>
        <p:spPr>
          <a:xfrm>
            <a:off x="360426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source reconciliation</a:t>
            </a:r>
            <a:endParaRPr lang="en-US" sz="1200" dirty="0"/>
          </a:p>
        </p:txBody>
      </p:sp>
      <p:sp>
        <p:nvSpPr>
          <p:cNvPr id="20" name="Shape 18"/>
          <p:cNvSpPr/>
          <p:nvPr/>
        </p:nvSpPr>
        <p:spPr>
          <a:xfrm>
            <a:off x="621792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21" name="Text 19"/>
          <p:cNvSpPr/>
          <p:nvPr/>
        </p:nvSpPr>
        <p:spPr>
          <a:xfrm>
            <a:off x="640842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5–6</a:t>
            </a:r>
            <a:endParaRPr lang="en-US" sz="1140" dirty="0"/>
          </a:p>
        </p:txBody>
      </p:sp>
      <p:sp>
        <p:nvSpPr>
          <p:cNvPr id="22" name="Text 20"/>
          <p:cNvSpPr/>
          <p:nvPr/>
        </p:nvSpPr>
        <p:spPr>
          <a:xfrm>
            <a:off x="640842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Draft + reconcile</a:t>
            </a:r>
            <a:endParaRPr lang="en-US" sz="2040" dirty="0"/>
          </a:p>
        </p:txBody>
      </p:sp>
      <p:sp>
        <p:nvSpPr>
          <p:cNvPr id="23" name="Text 21"/>
          <p:cNvSpPr/>
          <p:nvPr/>
        </p:nvSpPr>
        <p:spPr>
          <a:xfrm>
            <a:off x="640842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Owner approval, ERP</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outbox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idempotency</a:t>
            </a:r>
            <a:endParaRPr lang="en-US" sz="1500" dirty="0"/>
          </a:p>
        </p:txBody>
      </p:sp>
      <p:sp>
        <p:nvSpPr>
          <p:cNvPr id="24" name="Text 22"/>
          <p:cNvSpPr/>
          <p:nvPr/>
        </p:nvSpPr>
        <p:spPr>
          <a:xfrm>
            <a:off x="640842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sandbox failure tests</a:t>
            </a:r>
            <a:endParaRPr lang="en-US" sz="1200" dirty="0"/>
          </a:p>
        </p:txBody>
      </p:sp>
      <p:sp>
        <p:nvSpPr>
          <p:cNvPr id="25" name="Shape 23"/>
          <p:cNvSpPr/>
          <p:nvPr/>
        </p:nvSpPr>
        <p:spPr>
          <a:xfrm>
            <a:off x="902208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26" name="Text 24"/>
          <p:cNvSpPr/>
          <p:nvPr/>
        </p:nvSpPr>
        <p:spPr>
          <a:xfrm>
            <a:off x="921258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7–8</a:t>
            </a:r>
            <a:endParaRPr lang="en-US" sz="1140" dirty="0"/>
          </a:p>
        </p:txBody>
      </p:sp>
      <p:sp>
        <p:nvSpPr>
          <p:cNvPr id="27" name="Text 25"/>
          <p:cNvSpPr/>
          <p:nvPr/>
        </p:nvSpPr>
        <p:spPr>
          <a:xfrm>
            <a:off x="921258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Enable</a:t>
            </a:r>
            <a:endParaRPr lang="en-US" sz="2040" dirty="0"/>
          </a:p>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distribution</a:t>
            </a:r>
            <a:endParaRPr lang="en-US" sz="2040" dirty="0"/>
          </a:p>
        </p:txBody>
      </p:sp>
      <p:sp>
        <p:nvSpPr>
          <p:cNvPr id="28" name="Text 26"/>
          <p:cNvSpPr/>
          <p:nvPr/>
        </p:nvSpPr>
        <p:spPr>
          <a:xfrm>
            <a:off x="921258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Agreed du interfaces,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support and monitoring</a:t>
            </a:r>
            <a:endParaRPr lang="en-US" sz="1500" dirty="0"/>
          </a:p>
        </p:txBody>
      </p:sp>
      <p:sp>
        <p:nvSpPr>
          <p:cNvPr id="29" name="Text 27"/>
          <p:cNvSpPr/>
          <p:nvPr/>
        </p:nvSpPr>
        <p:spPr>
          <a:xfrm>
            <a:off x="921258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sponsor acceptance</a:t>
            </a:r>
            <a:endParaRPr lang="en-US" sz="1200" dirty="0"/>
          </a:p>
        </p:txBody>
      </p:sp>
      <p:sp>
        <p:nvSpPr>
          <p:cNvPr id="30" name="Text 28"/>
          <p:cNvSpPr/>
          <p:nvPr/>
        </p:nvSpPr>
        <p:spPr>
          <a:xfrm>
            <a:off x="609600" y="5715000"/>
            <a:ext cx="10972800" cy="320040"/>
          </a:xfrm>
          <a:prstGeom prst="rect">
            <a:avLst/>
          </a:prstGeom>
          <a:noFill/>
          <a:ln/>
        </p:spPr>
        <p:txBody>
          <a:bodyPr wrap="square" lIns="0" tIns="0" rIns="0" bIns="0" rtlCol="0" anchor="t">
            <a:spAutoFit/>
          </a:bodyPr>
          <a:lstStyle/>
          <a:p>
            <a:pPr algn="l" indent="0" marL="0">
              <a:lnSpc>
                <a:spcPct val="100000"/>
              </a:lnSpc>
              <a:buNone/>
            </a:pPr>
            <a:r>
              <a:rPr lang="en-US" sz="1500" b="1" dirty="0">
                <a:solidFill>
                  <a:srgbClr val="102F3A"/>
                </a:solidFill>
                <a:latin typeface="Instrument Sans" pitchFamily="34" charset="0"/>
                <a:ea typeface="Instrument Sans" pitchFamily="34" charset="-122"/>
                <a:cs typeface="Instrument Sans" pitchFamily="34" charset="-120"/>
              </a:rPr>
              <a:t>Accountability: AqionLabs builds · SME owner validates · du sponsors integration and acceptance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PILOT EXECUTION PLAN</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160 SMEs. Four waves.</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credible comparison.</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10</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S01 · S09</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Proposed 12-week pilot after integration acceptance · enrollment minimum 150 · SME is the randomization unit</a:t>
            </a:r>
            <a:endParaRPr lang="en-US" sz="1140" dirty="0"/>
          </a:p>
        </p:txBody>
      </p:sp>
      <p:sp>
        <p:nvSpPr>
          <p:cNvPr id="11" name="Shape 9"/>
          <p:cNvSpPr/>
          <p:nvPr/>
        </p:nvSpPr>
        <p:spPr>
          <a:xfrm>
            <a:off x="609600" y="2484120"/>
            <a:ext cx="2766060" cy="3131820"/>
          </a:xfrm>
          <a:prstGeom prst="roundRect">
            <a:avLst>
              <a:gd name="adj" fmla="val 4959"/>
            </a:avLst>
          </a:prstGeom>
          <a:solidFill>
            <a:srgbClr val="102F3A"/>
          </a:solidFill>
          <a:ln w="12700">
            <a:solidFill>
              <a:srgbClr val="102F3A">
                <a:alpha val="0"/>
              </a:srgbClr>
            </a:solidFill>
            <a:prstDash val="solid"/>
          </a:ln>
        </p:spPr>
      </p:sp>
      <p:sp>
        <p:nvSpPr>
          <p:cNvPr id="12" name="Text 10"/>
          <p:cNvSpPr/>
          <p:nvPr/>
        </p:nvSpPr>
        <p:spPr>
          <a:xfrm>
            <a:off x="845820" y="2735580"/>
            <a:ext cx="2286000" cy="1043940"/>
          </a:xfrm>
          <a:prstGeom prst="rect">
            <a:avLst/>
          </a:prstGeom>
          <a:noFill/>
          <a:ln/>
        </p:spPr>
        <p:txBody>
          <a:bodyPr wrap="square" lIns="0" tIns="0" rIns="0" bIns="0" rtlCol="0" anchor="t">
            <a:spAutoFit/>
          </a:bodyPr>
          <a:lstStyle/>
          <a:p>
            <a:pPr algn="l" indent="0" marL="0">
              <a:lnSpc>
                <a:spcPct val="100000"/>
              </a:lnSpc>
              <a:buNone/>
            </a:pPr>
            <a:r>
              <a:rPr lang="en-US" sz="6720" b="1" dirty="0">
                <a:solidFill>
                  <a:srgbClr val="D3EDE0"/>
                </a:solidFill>
                <a:latin typeface="Bricolage Grotesque" pitchFamily="34" charset="0"/>
                <a:ea typeface="Bricolage Grotesque" pitchFamily="34" charset="-122"/>
                <a:cs typeface="Bricolage Grotesque" pitchFamily="34" charset="-120"/>
              </a:rPr>
              <a:t>160</a:t>
            </a:r>
            <a:endParaRPr lang="en-US" sz="6720" dirty="0"/>
          </a:p>
        </p:txBody>
      </p:sp>
      <p:sp>
        <p:nvSpPr>
          <p:cNvPr id="13" name="Text 11"/>
          <p:cNvSpPr/>
          <p:nvPr/>
        </p:nvSpPr>
        <p:spPr>
          <a:xfrm>
            <a:off x="845820" y="4030980"/>
            <a:ext cx="2247900" cy="45720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FFFFFF"/>
                </a:solidFill>
                <a:latin typeface="Bricolage Grotesque" pitchFamily="34" charset="0"/>
                <a:ea typeface="Bricolage Grotesque" pitchFamily="34" charset="-122"/>
                <a:cs typeface="Bricolage Grotesque" pitchFamily="34" charset="-120"/>
              </a:rPr>
              <a:t>Enrollment target</a:t>
            </a:r>
            <a:endParaRPr lang="en-US" sz="1920" dirty="0"/>
          </a:p>
        </p:txBody>
      </p:sp>
      <p:sp>
        <p:nvSpPr>
          <p:cNvPr id="14" name="Text 12"/>
          <p:cNvSpPr/>
          <p:nvPr/>
        </p:nvSpPr>
        <p:spPr>
          <a:xfrm>
            <a:off x="845820" y="4678680"/>
            <a:ext cx="2209800" cy="8001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4 × 40</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20 immediate +</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20 delayed per wave</a:t>
            </a:r>
            <a:endParaRPr lang="en-US" sz="1500" dirty="0"/>
          </a:p>
        </p:txBody>
      </p:sp>
      <p:sp>
        <p:nvSpPr>
          <p:cNvPr id="15" name="Text 13"/>
          <p:cNvSpPr/>
          <p:nvPr/>
        </p:nvSpPr>
        <p:spPr>
          <a:xfrm>
            <a:off x="499110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a:t>
            </a:r>
            <a:endParaRPr lang="en-US" sz="1080" dirty="0"/>
          </a:p>
        </p:txBody>
      </p:sp>
      <p:sp>
        <p:nvSpPr>
          <p:cNvPr id="16" name="Text 14"/>
          <p:cNvSpPr/>
          <p:nvPr/>
        </p:nvSpPr>
        <p:spPr>
          <a:xfrm>
            <a:off x="547116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2</a:t>
            </a:r>
            <a:endParaRPr lang="en-US" sz="1080" dirty="0"/>
          </a:p>
        </p:txBody>
      </p:sp>
      <p:sp>
        <p:nvSpPr>
          <p:cNvPr id="17" name="Text 15"/>
          <p:cNvSpPr/>
          <p:nvPr/>
        </p:nvSpPr>
        <p:spPr>
          <a:xfrm>
            <a:off x="595122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3</a:t>
            </a:r>
            <a:endParaRPr lang="en-US" sz="1080" dirty="0"/>
          </a:p>
        </p:txBody>
      </p:sp>
      <p:sp>
        <p:nvSpPr>
          <p:cNvPr id="18" name="Text 16"/>
          <p:cNvSpPr/>
          <p:nvPr/>
        </p:nvSpPr>
        <p:spPr>
          <a:xfrm>
            <a:off x="643128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4</a:t>
            </a:r>
            <a:endParaRPr lang="en-US" sz="1080" dirty="0"/>
          </a:p>
        </p:txBody>
      </p:sp>
      <p:sp>
        <p:nvSpPr>
          <p:cNvPr id="19" name="Text 17"/>
          <p:cNvSpPr/>
          <p:nvPr/>
        </p:nvSpPr>
        <p:spPr>
          <a:xfrm>
            <a:off x="691134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5</a:t>
            </a:r>
            <a:endParaRPr lang="en-US" sz="1080" dirty="0"/>
          </a:p>
        </p:txBody>
      </p:sp>
      <p:sp>
        <p:nvSpPr>
          <p:cNvPr id="20" name="Text 18"/>
          <p:cNvSpPr/>
          <p:nvPr/>
        </p:nvSpPr>
        <p:spPr>
          <a:xfrm>
            <a:off x="739140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6</a:t>
            </a:r>
            <a:endParaRPr lang="en-US" sz="1080" dirty="0"/>
          </a:p>
        </p:txBody>
      </p:sp>
      <p:sp>
        <p:nvSpPr>
          <p:cNvPr id="21" name="Text 19"/>
          <p:cNvSpPr/>
          <p:nvPr/>
        </p:nvSpPr>
        <p:spPr>
          <a:xfrm>
            <a:off x="787146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7</a:t>
            </a:r>
            <a:endParaRPr lang="en-US" sz="1080" dirty="0"/>
          </a:p>
        </p:txBody>
      </p:sp>
      <p:sp>
        <p:nvSpPr>
          <p:cNvPr id="22" name="Text 20"/>
          <p:cNvSpPr/>
          <p:nvPr/>
        </p:nvSpPr>
        <p:spPr>
          <a:xfrm>
            <a:off x="835152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8</a:t>
            </a:r>
            <a:endParaRPr lang="en-US" sz="1080" dirty="0"/>
          </a:p>
        </p:txBody>
      </p:sp>
      <p:sp>
        <p:nvSpPr>
          <p:cNvPr id="23" name="Text 21"/>
          <p:cNvSpPr/>
          <p:nvPr/>
        </p:nvSpPr>
        <p:spPr>
          <a:xfrm>
            <a:off x="883158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9</a:t>
            </a:r>
            <a:endParaRPr lang="en-US" sz="1080" dirty="0"/>
          </a:p>
        </p:txBody>
      </p:sp>
      <p:sp>
        <p:nvSpPr>
          <p:cNvPr id="24" name="Text 22"/>
          <p:cNvSpPr/>
          <p:nvPr/>
        </p:nvSpPr>
        <p:spPr>
          <a:xfrm>
            <a:off x="931164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10</a:t>
            </a:r>
            <a:endParaRPr lang="en-US" sz="1080" dirty="0"/>
          </a:p>
        </p:txBody>
      </p:sp>
      <p:sp>
        <p:nvSpPr>
          <p:cNvPr id="25" name="Text 23"/>
          <p:cNvSpPr/>
          <p:nvPr/>
        </p:nvSpPr>
        <p:spPr>
          <a:xfrm>
            <a:off x="979170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11</a:t>
            </a:r>
            <a:endParaRPr lang="en-US" sz="1080" dirty="0"/>
          </a:p>
        </p:txBody>
      </p:sp>
      <p:sp>
        <p:nvSpPr>
          <p:cNvPr id="26" name="Text 24"/>
          <p:cNvSpPr/>
          <p:nvPr/>
        </p:nvSpPr>
        <p:spPr>
          <a:xfrm>
            <a:off x="1027176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12</a:t>
            </a:r>
            <a:endParaRPr lang="en-US" sz="1080" dirty="0"/>
          </a:p>
        </p:txBody>
      </p:sp>
      <p:sp>
        <p:nvSpPr>
          <p:cNvPr id="27" name="Text 25"/>
          <p:cNvSpPr/>
          <p:nvPr/>
        </p:nvSpPr>
        <p:spPr>
          <a:xfrm>
            <a:off x="3695700" y="317754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1</a:t>
            </a:r>
            <a:endParaRPr lang="en-US" sz="1440" dirty="0"/>
          </a:p>
        </p:txBody>
      </p:sp>
      <p:sp>
        <p:nvSpPr>
          <p:cNvPr id="28" name="Shape 26"/>
          <p:cNvSpPr/>
          <p:nvPr/>
        </p:nvSpPr>
        <p:spPr>
          <a:xfrm>
            <a:off x="4991100" y="3086100"/>
            <a:ext cx="929640" cy="365760"/>
          </a:xfrm>
          <a:prstGeom prst="roundRect">
            <a:avLst>
              <a:gd name="adj" fmla="val 12500"/>
            </a:avLst>
          </a:prstGeom>
          <a:solidFill>
            <a:srgbClr val="B5D0CD"/>
          </a:solidFill>
          <a:ln w="12700">
            <a:solidFill>
              <a:srgbClr val="B5D0CD">
                <a:alpha val="0"/>
              </a:srgbClr>
            </a:solidFill>
            <a:prstDash val="solid"/>
          </a:ln>
        </p:spPr>
      </p:sp>
      <p:sp>
        <p:nvSpPr>
          <p:cNvPr id="29" name="Shape 27"/>
          <p:cNvSpPr/>
          <p:nvPr/>
        </p:nvSpPr>
        <p:spPr>
          <a:xfrm>
            <a:off x="5951220" y="3086100"/>
            <a:ext cx="2849880" cy="365760"/>
          </a:xfrm>
          <a:prstGeom prst="roundRect">
            <a:avLst>
              <a:gd name="adj" fmla="val 12500"/>
            </a:avLst>
          </a:prstGeom>
          <a:solidFill>
            <a:srgbClr val="087F80"/>
          </a:solidFill>
          <a:ln w="12700">
            <a:solidFill>
              <a:srgbClr val="087F80">
                <a:alpha val="0"/>
              </a:srgbClr>
            </a:solidFill>
            <a:prstDash val="solid"/>
          </a:ln>
        </p:spPr>
      </p:sp>
      <p:sp>
        <p:nvSpPr>
          <p:cNvPr id="30" name="Text 28"/>
          <p:cNvSpPr/>
          <p:nvPr/>
        </p:nvSpPr>
        <p:spPr>
          <a:xfrm>
            <a:off x="4991100" y="315468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31" name="Text 29"/>
          <p:cNvSpPr/>
          <p:nvPr/>
        </p:nvSpPr>
        <p:spPr>
          <a:xfrm>
            <a:off x="5951220" y="315468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32" name="Text 30"/>
          <p:cNvSpPr/>
          <p:nvPr/>
        </p:nvSpPr>
        <p:spPr>
          <a:xfrm>
            <a:off x="3695700" y="375666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2</a:t>
            </a:r>
            <a:endParaRPr lang="en-US" sz="1440" dirty="0"/>
          </a:p>
        </p:txBody>
      </p:sp>
      <p:sp>
        <p:nvSpPr>
          <p:cNvPr id="33" name="Shape 31"/>
          <p:cNvSpPr/>
          <p:nvPr/>
        </p:nvSpPr>
        <p:spPr>
          <a:xfrm>
            <a:off x="5471160" y="3665220"/>
            <a:ext cx="929640" cy="365760"/>
          </a:xfrm>
          <a:prstGeom prst="roundRect">
            <a:avLst>
              <a:gd name="adj" fmla="val 12500"/>
            </a:avLst>
          </a:prstGeom>
          <a:solidFill>
            <a:srgbClr val="B5D0CD"/>
          </a:solidFill>
          <a:ln w="12700">
            <a:solidFill>
              <a:srgbClr val="B5D0CD">
                <a:alpha val="0"/>
              </a:srgbClr>
            </a:solidFill>
            <a:prstDash val="solid"/>
          </a:ln>
        </p:spPr>
      </p:sp>
      <p:sp>
        <p:nvSpPr>
          <p:cNvPr id="34" name="Shape 32"/>
          <p:cNvSpPr/>
          <p:nvPr/>
        </p:nvSpPr>
        <p:spPr>
          <a:xfrm>
            <a:off x="6431280" y="3665220"/>
            <a:ext cx="2849880" cy="365760"/>
          </a:xfrm>
          <a:prstGeom prst="roundRect">
            <a:avLst>
              <a:gd name="adj" fmla="val 12500"/>
            </a:avLst>
          </a:prstGeom>
          <a:solidFill>
            <a:srgbClr val="087F80"/>
          </a:solidFill>
          <a:ln w="12700">
            <a:solidFill>
              <a:srgbClr val="087F80">
                <a:alpha val="0"/>
              </a:srgbClr>
            </a:solidFill>
            <a:prstDash val="solid"/>
          </a:ln>
        </p:spPr>
      </p:sp>
      <p:sp>
        <p:nvSpPr>
          <p:cNvPr id="35" name="Text 33"/>
          <p:cNvSpPr/>
          <p:nvPr/>
        </p:nvSpPr>
        <p:spPr>
          <a:xfrm>
            <a:off x="5471160" y="373380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36" name="Text 34"/>
          <p:cNvSpPr/>
          <p:nvPr/>
        </p:nvSpPr>
        <p:spPr>
          <a:xfrm>
            <a:off x="6431280" y="373380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37" name="Text 35"/>
          <p:cNvSpPr/>
          <p:nvPr/>
        </p:nvSpPr>
        <p:spPr>
          <a:xfrm>
            <a:off x="3695700" y="433578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3</a:t>
            </a:r>
            <a:endParaRPr lang="en-US" sz="1440" dirty="0"/>
          </a:p>
        </p:txBody>
      </p:sp>
      <p:sp>
        <p:nvSpPr>
          <p:cNvPr id="38" name="Shape 36"/>
          <p:cNvSpPr/>
          <p:nvPr/>
        </p:nvSpPr>
        <p:spPr>
          <a:xfrm>
            <a:off x="5951220" y="4244340"/>
            <a:ext cx="929640" cy="365760"/>
          </a:xfrm>
          <a:prstGeom prst="roundRect">
            <a:avLst>
              <a:gd name="adj" fmla="val 12500"/>
            </a:avLst>
          </a:prstGeom>
          <a:solidFill>
            <a:srgbClr val="B5D0CD"/>
          </a:solidFill>
          <a:ln w="12700">
            <a:solidFill>
              <a:srgbClr val="B5D0CD">
                <a:alpha val="0"/>
              </a:srgbClr>
            </a:solidFill>
            <a:prstDash val="solid"/>
          </a:ln>
        </p:spPr>
      </p:sp>
      <p:sp>
        <p:nvSpPr>
          <p:cNvPr id="39" name="Shape 37"/>
          <p:cNvSpPr/>
          <p:nvPr/>
        </p:nvSpPr>
        <p:spPr>
          <a:xfrm>
            <a:off x="6911340" y="4244340"/>
            <a:ext cx="2849880" cy="365760"/>
          </a:xfrm>
          <a:prstGeom prst="roundRect">
            <a:avLst>
              <a:gd name="adj" fmla="val 12500"/>
            </a:avLst>
          </a:prstGeom>
          <a:solidFill>
            <a:srgbClr val="087F80"/>
          </a:solidFill>
          <a:ln w="12700">
            <a:solidFill>
              <a:srgbClr val="087F80">
                <a:alpha val="0"/>
              </a:srgbClr>
            </a:solidFill>
            <a:prstDash val="solid"/>
          </a:ln>
        </p:spPr>
      </p:sp>
      <p:sp>
        <p:nvSpPr>
          <p:cNvPr id="40" name="Text 38"/>
          <p:cNvSpPr/>
          <p:nvPr/>
        </p:nvSpPr>
        <p:spPr>
          <a:xfrm>
            <a:off x="5951220" y="431292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41" name="Text 39"/>
          <p:cNvSpPr/>
          <p:nvPr/>
        </p:nvSpPr>
        <p:spPr>
          <a:xfrm>
            <a:off x="6911340" y="431292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42" name="Text 40"/>
          <p:cNvSpPr/>
          <p:nvPr/>
        </p:nvSpPr>
        <p:spPr>
          <a:xfrm>
            <a:off x="3695700" y="491490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4</a:t>
            </a:r>
            <a:endParaRPr lang="en-US" sz="1440" dirty="0"/>
          </a:p>
        </p:txBody>
      </p:sp>
      <p:sp>
        <p:nvSpPr>
          <p:cNvPr id="43" name="Shape 41"/>
          <p:cNvSpPr/>
          <p:nvPr/>
        </p:nvSpPr>
        <p:spPr>
          <a:xfrm>
            <a:off x="6431280" y="4823460"/>
            <a:ext cx="929640" cy="365760"/>
          </a:xfrm>
          <a:prstGeom prst="roundRect">
            <a:avLst>
              <a:gd name="adj" fmla="val 12500"/>
            </a:avLst>
          </a:prstGeom>
          <a:solidFill>
            <a:srgbClr val="B5D0CD"/>
          </a:solidFill>
          <a:ln w="12700">
            <a:solidFill>
              <a:srgbClr val="B5D0CD">
                <a:alpha val="0"/>
              </a:srgbClr>
            </a:solidFill>
            <a:prstDash val="solid"/>
          </a:ln>
        </p:spPr>
      </p:sp>
      <p:sp>
        <p:nvSpPr>
          <p:cNvPr id="44" name="Shape 42"/>
          <p:cNvSpPr/>
          <p:nvPr/>
        </p:nvSpPr>
        <p:spPr>
          <a:xfrm>
            <a:off x="7391400" y="4823460"/>
            <a:ext cx="2849880" cy="365760"/>
          </a:xfrm>
          <a:prstGeom prst="roundRect">
            <a:avLst>
              <a:gd name="adj" fmla="val 12500"/>
            </a:avLst>
          </a:prstGeom>
          <a:solidFill>
            <a:srgbClr val="087F80"/>
          </a:solidFill>
          <a:ln w="12700">
            <a:solidFill>
              <a:srgbClr val="087F80">
                <a:alpha val="0"/>
              </a:srgbClr>
            </a:solidFill>
            <a:prstDash val="solid"/>
          </a:ln>
        </p:spPr>
      </p:sp>
      <p:sp>
        <p:nvSpPr>
          <p:cNvPr id="45" name="Text 43"/>
          <p:cNvSpPr/>
          <p:nvPr/>
        </p:nvSpPr>
        <p:spPr>
          <a:xfrm>
            <a:off x="6431280" y="489204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46" name="Text 44"/>
          <p:cNvSpPr/>
          <p:nvPr/>
        </p:nvSpPr>
        <p:spPr>
          <a:xfrm>
            <a:off x="7391400" y="489204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47" name="Shape 45"/>
          <p:cNvSpPr/>
          <p:nvPr/>
        </p:nvSpPr>
        <p:spPr>
          <a:xfrm>
            <a:off x="3695700" y="5631180"/>
            <a:ext cx="1866900" cy="327660"/>
          </a:xfrm>
          <a:prstGeom prst="roundRect">
            <a:avLst>
              <a:gd name="adj" fmla="val 48837"/>
            </a:avLst>
          </a:prstGeom>
          <a:solidFill>
            <a:srgbClr val="D3EDE0"/>
          </a:solidFill>
          <a:ln w="12700">
            <a:solidFill>
              <a:srgbClr val="D3EDE0">
                <a:alpha val="0"/>
              </a:srgbClr>
            </a:solidFill>
            <a:prstDash val="solid"/>
          </a:ln>
        </p:spPr>
      </p:sp>
      <p:sp>
        <p:nvSpPr>
          <p:cNvPr id="48" name="Text 46"/>
          <p:cNvSpPr/>
          <p:nvPr/>
        </p:nvSpPr>
        <p:spPr>
          <a:xfrm>
            <a:off x="3802380" y="5699760"/>
            <a:ext cx="16535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Common baseline</a:t>
            </a:r>
            <a:endParaRPr lang="en-US" sz="1080" dirty="0"/>
          </a:p>
        </p:txBody>
      </p:sp>
      <p:sp>
        <p:nvSpPr>
          <p:cNvPr id="49" name="Shape 47"/>
          <p:cNvSpPr/>
          <p:nvPr/>
        </p:nvSpPr>
        <p:spPr>
          <a:xfrm>
            <a:off x="5753100" y="5631180"/>
            <a:ext cx="2819400" cy="327660"/>
          </a:xfrm>
          <a:prstGeom prst="roundRect">
            <a:avLst>
              <a:gd name="adj" fmla="val 48837"/>
            </a:avLst>
          </a:prstGeom>
          <a:solidFill>
            <a:srgbClr val="D3EDE0"/>
          </a:solidFill>
          <a:ln w="12700">
            <a:solidFill>
              <a:srgbClr val="D3EDE0">
                <a:alpha val="0"/>
              </a:srgbClr>
            </a:solidFill>
            <a:prstDash val="solid"/>
          </a:ln>
        </p:spPr>
      </p:sp>
      <p:sp>
        <p:nvSpPr>
          <p:cNvPr id="50" name="Text 48"/>
          <p:cNvSpPr/>
          <p:nvPr/>
        </p:nvSpPr>
        <p:spPr>
          <a:xfrm>
            <a:off x="5859780" y="5699760"/>
            <a:ext cx="26060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Immediate vs delayed access</a:t>
            </a:r>
            <a:endParaRPr lang="en-US" sz="1080" dirty="0"/>
          </a:p>
        </p:txBody>
      </p:sp>
      <p:sp>
        <p:nvSpPr>
          <p:cNvPr id="51" name="Shape 49"/>
          <p:cNvSpPr/>
          <p:nvPr/>
        </p:nvSpPr>
        <p:spPr>
          <a:xfrm>
            <a:off x="8763000" y="5631180"/>
            <a:ext cx="2095500" cy="327660"/>
          </a:xfrm>
          <a:prstGeom prst="roundRect">
            <a:avLst>
              <a:gd name="adj" fmla="val 48837"/>
            </a:avLst>
          </a:prstGeom>
          <a:solidFill>
            <a:srgbClr val="D3EDE0"/>
          </a:solidFill>
          <a:ln w="12700">
            <a:solidFill>
              <a:srgbClr val="D3EDE0">
                <a:alpha val="0"/>
              </a:srgbClr>
            </a:solidFill>
            <a:prstDash val="solid"/>
          </a:ln>
        </p:spPr>
      </p:sp>
      <p:sp>
        <p:nvSpPr>
          <p:cNvPr id="52" name="Text 50"/>
          <p:cNvSpPr/>
          <p:nvPr/>
        </p:nvSpPr>
        <p:spPr>
          <a:xfrm>
            <a:off x="8869680" y="5699760"/>
            <a:ext cx="18821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Week 12 analysis</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PILOT SCORECARD · TARGETS</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Measure better decisions.</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Keep operational guardrails absolute.</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11</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S09</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Pilot targets, not measured benefits. Pre-register analysis; report effect sizes, confidence intervals, attrition and deviations.</a:t>
            </a:r>
            <a:endParaRPr lang="en-US" sz="1140" dirty="0"/>
          </a:p>
        </p:txBody>
      </p:sp>
      <p:sp>
        <p:nvSpPr>
          <p:cNvPr id="11" name="Shape 9"/>
          <p:cNvSpPr/>
          <p:nvPr/>
        </p:nvSpPr>
        <p:spPr>
          <a:xfrm>
            <a:off x="609600" y="2529840"/>
            <a:ext cx="3505200" cy="2720340"/>
          </a:xfrm>
          <a:prstGeom prst="roundRect">
            <a:avLst>
              <a:gd name="adj" fmla="val 4482"/>
            </a:avLst>
          </a:prstGeom>
          <a:solidFill>
            <a:srgbClr val="FFFFFF"/>
          </a:solidFill>
          <a:ln w="12700">
            <a:solidFill>
              <a:srgbClr val="FFFFFF">
                <a:alpha val="0"/>
              </a:srgbClr>
            </a:solidFill>
            <a:prstDash val="solid"/>
          </a:ln>
        </p:spPr>
      </p:sp>
      <p:sp>
        <p:nvSpPr>
          <p:cNvPr id="12" name="Text 10"/>
          <p:cNvSpPr/>
          <p:nvPr/>
        </p:nvSpPr>
        <p:spPr>
          <a:xfrm>
            <a:off x="822960" y="2727960"/>
            <a:ext cx="3078480" cy="792480"/>
          </a:xfrm>
          <a:prstGeom prst="rect">
            <a:avLst/>
          </a:prstGeom>
          <a:noFill/>
          <a:ln/>
        </p:spPr>
        <p:txBody>
          <a:bodyPr wrap="square" lIns="0" tIns="0" rIns="0" bIns="0" rtlCol="0" anchor="t">
            <a:spAutoFit/>
          </a:bodyPr>
          <a:lstStyle/>
          <a:p>
            <a:pPr algn="l" indent="0" marL="0">
              <a:lnSpc>
                <a:spcPct val="100000"/>
              </a:lnSpc>
              <a:buNone/>
            </a:pPr>
            <a:r>
              <a:rPr lang="en-US" sz="4740" b="1" dirty="0">
                <a:solidFill>
                  <a:srgbClr val="087F80"/>
                </a:solidFill>
                <a:latin typeface="Bricolage Grotesque" pitchFamily="34" charset="0"/>
                <a:ea typeface="Bricolage Grotesque" pitchFamily="34" charset="-122"/>
                <a:cs typeface="Bricolage Grotesque" pitchFamily="34" charset="-120"/>
              </a:rPr>
              <a:t>40%</a:t>
            </a:r>
            <a:endParaRPr lang="en-US" sz="4740" dirty="0"/>
          </a:p>
        </p:txBody>
      </p:sp>
      <p:sp>
        <p:nvSpPr>
          <p:cNvPr id="13" name="Text 11"/>
          <p:cNvSpPr/>
          <p:nvPr/>
        </p:nvSpPr>
        <p:spPr>
          <a:xfrm>
            <a:off x="822960" y="3771900"/>
            <a:ext cx="3078480" cy="50292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Faster feasible planning</a:t>
            </a:r>
            <a:endParaRPr lang="en-US" sz="1860" dirty="0"/>
          </a:p>
        </p:txBody>
      </p:sp>
      <p:sp>
        <p:nvSpPr>
          <p:cNvPr id="14" name="Text 12"/>
          <p:cNvSpPr/>
          <p:nvPr/>
        </p:nvSpPr>
        <p:spPr>
          <a:xfrm>
            <a:off x="822960" y="4411980"/>
            <a:ext cx="3078480" cy="7239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Primary target: common disruption</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drill to owner-approved,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rubric-passing plan.</a:t>
            </a:r>
            <a:endParaRPr lang="en-US" sz="1440" dirty="0"/>
          </a:p>
        </p:txBody>
      </p:sp>
      <p:sp>
        <p:nvSpPr>
          <p:cNvPr id="15" name="Shape 13"/>
          <p:cNvSpPr/>
          <p:nvPr/>
        </p:nvSpPr>
        <p:spPr>
          <a:xfrm>
            <a:off x="4343400" y="2529840"/>
            <a:ext cx="3505200" cy="2720340"/>
          </a:xfrm>
          <a:prstGeom prst="roundRect">
            <a:avLst>
              <a:gd name="adj" fmla="val 4482"/>
            </a:avLst>
          </a:prstGeom>
          <a:solidFill>
            <a:srgbClr val="FFFFFF"/>
          </a:solidFill>
          <a:ln w="12700">
            <a:solidFill>
              <a:srgbClr val="FFFFFF">
                <a:alpha val="0"/>
              </a:srgbClr>
            </a:solidFill>
            <a:prstDash val="solid"/>
          </a:ln>
        </p:spPr>
      </p:sp>
      <p:sp>
        <p:nvSpPr>
          <p:cNvPr id="16" name="Text 14"/>
          <p:cNvSpPr/>
          <p:nvPr/>
        </p:nvSpPr>
        <p:spPr>
          <a:xfrm>
            <a:off x="4556760" y="2727960"/>
            <a:ext cx="3078480" cy="792480"/>
          </a:xfrm>
          <a:prstGeom prst="rect">
            <a:avLst/>
          </a:prstGeom>
          <a:noFill/>
          <a:ln/>
        </p:spPr>
        <p:txBody>
          <a:bodyPr wrap="square" lIns="0" tIns="0" rIns="0" bIns="0" rtlCol="0" anchor="t">
            <a:spAutoFit/>
          </a:bodyPr>
          <a:lstStyle/>
          <a:p>
            <a:pPr algn="l" indent="0" marL="0">
              <a:lnSpc>
                <a:spcPct val="100000"/>
              </a:lnSpc>
              <a:buNone/>
            </a:pPr>
            <a:r>
              <a:rPr lang="en-US" sz="4740" b="1" dirty="0">
                <a:solidFill>
                  <a:srgbClr val="087F80"/>
                </a:solidFill>
                <a:latin typeface="Bricolage Grotesque" pitchFamily="34" charset="0"/>
                <a:ea typeface="Bricolage Grotesque" pitchFamily="34" charset="-122"/>
                <a:cs typeface="Bricolage Grotesque" pitchFamily="34" charset="-120"/>
              </a:rPr>
              <a:t>90%</a:t>
            </a:r>
            <a:endParaRPr lang="en-US" sz="4740" dirty="0"/>
          </a:p>
        </p:txBody>
      </p:sp>
      <p:sp>
        <p:nvSpPr>
          <p:cNvPr id="17" name="Text 15"/>
          <p:cNvSpPr/>
          <p:nvPr/>
        </p:nvSpPr>
        <p:spPr>
          <a:xfrm>
            <a:off x="4556760" y="3771900"/>
            <a:ext cx="3078480" cy="50292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Feasible-plan rate</a:t>
            </a:r>
            <a:endParaRPr lang="en-US" sz="1860" dirty="0"/>
          </a:p>
        </p:txBody>
      </p:sp>
      <p:sp>
        <p:nvSpPr>
          <p:cNvPr id="18" name="Text 16"/>
          <p:cNvSpPr/>
          <p:nvPr/>
        </p:nvSpPr>
        <p:spPr>
          <a:xfrm>
            <a:off x="4556760" y="4411980"/>
            <a:ext cx="3078480" cy="7239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Target share of assigned drills with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an approved plan passing blinded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scoring.</a:t>
            </a:r>
            <a:endParaRPr lang="en-US" sz="1440" dirty="0"/>
          </a:p>
        </p:txBody>
      </p:sp>
      <p:sp>
        <p:nvSpPr>
          <p:cNvPr id="19" name="Shape 17"/>
          <p:cNvSpPr/>
          <p:nvPr/>
        </p:nvSpPr>
        <p:spPr>
          <a:xfrm>
            <a:off x="8077200" y="2529840"/>
            <a:ext cx="3505200" cy="2720340"/>
          </a:xfrm>
          <a:prstGeom prst="roundRect">
            <a:avLst>
              <a:gd name="adj" fmla="val 4482"/>
            </a:avLst>
          </a:prstGeom>
          <a:solidFill>
            <a:srgbClr val="FFFFFF"/>
          </a:solidFill>
          <a:ln w="12700">
            <a:solidFill>
              <a:srgbClr val="FFFFFF">
                <a:alpha val="0"/>
              </a:srgbClr>
            </a:solidFill>
            <a:prstDash val="solid"/>
          </a:ln>
        </p:spPr>
      </p:sp>
      <p:sp>
        <p:nvSpPr>
          <p:cNvPr id="20" name="Text 18"/>
          <p:cNvSpPr/>
          <p:nvPr/>
        </p:nvSpPr>
        <p:spPr>
          <a:xfrm>
            <a:off x="8290560" y="2727960"/>
            <a:ext cx="3078480" cy="792480"/>
          </a:xfrm>
          <a:prstGeom prst="rect">
            <a:avLst/>
          </a:prstGeom>
          <a:noFill/>
          <a:ln/>
        </p:spPr>
        <p:txBody>
          <a:bodyPr wrap="square" lIns="0" tIns="0" rIns="0" bIns="0" rtlCol="0" anchor="t">
            <a:spAutoFit/>
          </a:bodyPr>
          <a:lstStyle/>
          <a:p>
            <a:pPr algn="l" indent="0" marL="0">
              <a:lnSpc>
                <a:spcPct val="100000"/>
              </a:lnSpc>
              <a:buNone/>
            </a:pPr>
            <a:r>
              <a:rPr lang="en-US" sz="4740" b="1" dirty="0">
                <a:solidFill>
                  <a:srgbClr val="087F80"/>
                </a:solidFill>
                <a:latin typeface="Bricolage Grotesque" pitchFamily="34" charset="0"/>
                <a:ea typeface="Bricolage Grotesque" pitchFamily="34" charset="-122"/>
                <a:cs typeface="Bricolage Grotesque" pitchFamily="34" charset="-120"/>
              </a:rPr>
              <a:t>70%</a:t>
            </a:r>
            <a:endParaRPr lang="en-US" sz="4740" dirty="0"/>
          </a:p>
        </p:txBody>
      </p:sp>
      <p:sp>
        <p:nvSpPr>
          <p:cNvPr id="21" name="Text 19"/>
          <p:cNvSpPr/>
          <p:nvPr/>
        </p:nvSpPr>
        <p:spPr>
          <a:xfrm>
            <a:off x="8290560" y="3771900"/>
            <a:ext cx="3078480" cy="50292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Weekly workflow use</a:t>
            </a:r>
            <a:endParaRPr lang="en-US" sz="1860" dirty="0"/>
          </a:p>
        </p:txBody>
      </p:sp>
      <p:sp>
        <p:nvSpPr>
          <p:cNvPr id="22" name="Text 20"/>
          <p:cNvSpPr/>
          <p:nvPr/>
        </p:nvSpPr>
        <p:spPr>
          <a:xfrm>
            <a:off x="8290560" y="4411980"/>
            <a:ext cx="3078480" cy="7239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Target share of SMEs with access</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reviewing at least one scenario each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week.</a:t>
            </a:r>
            <a:endParaRPr lang="en-US" sz="1440" dirty="0"/>
          </a:p>
        </p:txBody>
      </p:sp>
      <p:sp>
        <p:nvSpPr>
          <p:cNvPr id="23" name="Shape 21"/>
          <p:cNvSpPr/>
          <p:nvPr/>
        </p:nvSpPr>
        <p:spPr>
          <a:xfrm>
            <a:off x="609600" y="5463540"/>
            <a:ext cx="10972800" cy="411480"/>
          </a:xfrm>
          <a:prstGeom prst="roundRect">
            <a:avLst>
              <a:gd name="adj" fmla="val 16667"/>
            </a:avLst>
          </a:prstGeom>
          <a:solidFill>
            <a:srgbClr val="D3EDE0"/>
          </a:solidFill>
          <a:ln w="12700">
            <a:solidFill>
              <a:srgbClr val="D3EDE0">
                <a:alpha val="0"/>
              </a:srgbClr>
            </a:solidFill>
            <a:prstDash val="solid"/>
          </a:ln>
        </p:spPr>
      </p:sp>
      <p:sp>
        <p:nvSpPr>
          <p:cNvPr id="24" name="Text 22"/>
          <p:cNvSpPr/>
          <p:nvPr/>
        </p:nvSpPr>
        <p:spPr>
          <a:xfrm>
            <a:off x="784860" y="5570220"/>
            <a:ext cx="10591800" cy="23622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102F3A"/>
                </a:solidFill>
                <a:latin typeface="Instrument Sans" pitchFamily="34" charset="0"/>
                <a:ea typeface="Instrument Sans" pitchFamily="34" charset="-122"/>
                <a:cs typeface="Instrument Sans" pitchFamily="34" charset="-120"/>
              </a:rPr>
              <a:t>STOP RULES / Projected cash-floor breach · unauthorized write · duplicate external effect</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SCALE AND COMMERCIAL MODEL</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narrow wedge.</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repeatable route through du.</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12</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S02 · S03</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Scale sequence and subscription are proposals. Expansion follows measured adoption, unit cost, isolation and recovery acceptance.</a:t>
            </a:r>
            <a:endParaRPr lang="en-US" sz="1140" dirty="0"/>
          </a:p>
        </p:txBody>
      </p:sp>
      <p:sp>
        <p:nvSpPr>
          <p:cNvPr id="11" name="Shape 9"/>
          <p:cNvSpPr/>
          <p:nvPr/>
        </p:nvSpPr>
        <p:spPr>
          <a:xfrm>
            <a:off x="609600" y="2529840"/>
            <a:ext cx="3505200" cy="2362200"/>
          </a:xfrm>
          <a:prstGeom prst="roundRect">
            <a:avLst>
              <a:gd name="adj" fmla="val 5161"/>
            </a:avLst>
          </a:prstGeom>
          <a:solidFill>
            <a:srgbClr val="FFFFFF"/>
          </a:solidFill>
          <a:ln w="12700">
            <a:solidFill>
              <a:srgbClr val="FFFFFF">
                <a:alpha val="0"/>
              </a:srgbClr>
            </a:solidFill>
            <a:prstDash val="solid"/>
          </a:ln>
        </p:spPr>
      </p:sp>
      <p:sp>
        <p:nvSpPr>
          <p:cNvPr id="12" name="Text 10"/>
          <p:cNvSpPr/>
          <p:nvPr/>
        </p:nvSpPr>
        <p:spPr>
          <a:xfrm>
            <a:off x="822960" y="2727960"/>
            <a:ext cx="3078480" cy="708660"/>
          </a:xfrm>
          <a:prstGeom prst="rect">
            <a:avLst/>
          </a:prstGeom>
          <a:noFill/>
          <a:ln/>
        </p:spPr>
        <p:txBody>
          <a:bodyPr wrap="square" lIns="0" tIns="0" rIns="0" bIns="0" rtlCol="0" anchor="t">
            <a:spAutoFit/>
          </a:bodyPr>
          <a:lstStyle/>
          <a:p>
            <a:pPr algn="l" indent="0" marL="0">
              <a:lnSpc>
                <a:spcPct val="100000"/>
              </a:lnSpc>
              <a:buNone/>
            </a:pPr>
            <a:r>
              <a:rPr lang="en-US" sz="4080" b="1" dirty="0">
                <a:solidFill>
                  <a:srgbClr val="087F80"/>
                </a:solidFill>
                <a:latin typeface="Bricolage Grotesque" pitchFamily="34" charset="0"/>
                <a:ea typeface="Bricolage Grotesque" pitchFamily="34" charset="-122"/>
                <a:cs typeface="Bricolage Grotesque" pitchFamily="34" charset="-120"/>
              </a:rPr>
              <a:t>160</a:t>
            </a:r>
            <a:endParaRPr lang="en-US" sz="4080" dirty="0"/>
          </a:p>
        </p:txBody>
      </p:sp>
      <p:sp>
        <p:nvSpPr>
          <p:cNvPr id="13" name="Text 11"/>
          <p:cNvSpPr/>
          <p:nvPr/>
        </p:nvSpPr>
        <p:spPr>
          <a:xfrm>
            <a:off x="822960" y="3581400"/>
            <a:ext cx="3078480" cy="41910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Pilot cohort target</a:t>
            </a:r>
            <a:endParaRPr lang="en-US" sz="1860" dirty="0"/>
          </a:p>
        </p:txBody>
      </p:sp>
      <p:sp>
        <p:nvSpPr>
          <p:cNvPr id="14" name="Text 12"/>
          <p:cNvSpPr/>
          <p:nvPr/>
        </p:nvSpPr>
        <p:spPr>
          <a:xfrm>
            <a:off x="822960" y="4160520"/>
            <a:ext cx="3078480" cy="6858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Validate decision value, source</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quality and support demand.</a:t>
            </a:r>
            <a:endParaRPr lang="en-US" sz="1440" dirty="0"/>
          </a:p>
        </p:txBody>
      </p:sp>
      <p:sp>
        <p:nvSpPr>
          <p:cNvPr id="15" name="Shape 13"/>
          <p:cNvSpPr/>
          <p:nvPr/>
        </p:nvSpPr>
        <p:spPr>
          <a:xfrm>
            <a:off x="4343400" y="2529840"/>
            <a:ext cx="3505200" cy="2362200"/>
          </a:xfrm>
          <a:prstGeom prst="roundRect">
            <a:avLst>
              <a:gd name="adj" fmla="val 5161"/>
            </a:avLst>
          </a:prstGeom>
          <a:solidFill>
            <a:srgbClr val="FFFFFF"/>
          </a:solidFill>
          <a:ln w="12700">
            <a:solidFill>
              <a:srgbClr val="FFFFFF">
                <a:alpha val="0"/>
              </a:srgbClr>
            </a:solidFill>
            <a:prstDash val="solid"/>
          </a:ln>
        </p:spPr>
      </p:sp>
      <p:sp>
        <p:nvSpPr>
          <p:cNvPr id="16" name="Text 14"/>
          <p:cNvSpPr/>
          <p:nvPr/>
        </p:nvSpPr>
        <p:spPr>
          <a:xfrm>
            <a:off x="4556760" y="2727960"/>
            <a:ext cx="3078480" cy="708660"/>
          </a:xfrm>
          <a:prstGeom prst="rect">
            <a:avLst/>
          </a:prstGeom>
          <a:noFill/>
          <a:ln/>
        </p:spPr>
        <p:txBody>
          <a:bodyPr wrap="square" lIns="0" tIns="0" rIns="0" bIns="0" rtlCol="0" anchor="t">
            <a:spAutoFit/>
          </a:bodyPr>
          <a:lstStyle/>
          <a:p>
            <a:pPr algn="l" indent="0" marL="0">
              <a:lnSpc>
                <a:spcPct val="100000"/>
              </a:lnSpc>
              <a:buNone/>
            </a:pPr>
            <a:r>
              <a:rPr lang="en-US" sz="4080" b="1" dirty="0">
                <a:solidFill>
                  <a:srgbClr val="087F80"/>
                </a:solidFill>
                <a:latin typeface="Bricolage Grotesque" pitchFamily="34" charset="0"/>
                <a:ea typeface="Bricolage Grotesque" pitchFamily="34" charset="-122"/>
                <a:cs typeface="Bricolage Grotesque" pitchFamily="34" charset="-120"/>
              </a:rPr>
              <a:t>1,000</a:t>
            </a:r>
            <a:endParaRPr lang="en-US" sz="4080" dirty="0"/>
          </a:p>
        </p:txBody>
      </p:sp>
      <p:sp>
        <p:nvSpPr>
          <p:cNvPr id="17" name="Text 15"/>
          <p:cNvSpPr/>
          <p:nvPr/>
        </p:nvSpPr>
        <p:spPr>
          <a:xfrm>
            <a:off x="4556760" y="3581400"/>
            <a:ext cx="3078480" cy="41910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Controlled rollout</a:t>
            </a:r>
            <a:endParaRPr lang="en-US" sz="1860" dirty="0"/>
          </a:p>
        </p:txBody>
      </p:sp>
      <p:sp>
        <p:nvSpPr>
          <p:cNvPr id="18" name="Text 16"/>
          <p:cNvSpPr/>
          <p:nvPr/>
        </p:nvSpPr>
        <p:spPr>
          <a:xfrm>
            <a:off x="4556760" y="4160520"/>
            <a:ext cx="3078480" cy="6858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Standardize connectors and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onboarding; enforce cost limits.</a:t>
            </a:r>
            <a:endParaRPr lang="en-US" sz="1440" dirty="0"/>
          </a:p>
        </p:txBody>
      </p:sp>
      <p:sp>
        <p:nvSpPr>
          <p:cNvPr id="19" name="Shape 17"/>
          <p:cNvSpPr/>
          <p:nvPr/>
        </p:nvSpPr>
        <p:spPr>
          <a:xfrm>
            <a:off x="8077200" y="2529840"/>
            <a:ext cx="3505200" cy="2362200"/>
          </a:xfrm>
          <a:prstGeom prst="roundRect">
            <a:avLst>
              <a:gd name="adj" fmla="val 5161"/>
            </a:avLst>
          </a:prstGeom>
          <a:solidFill>
            <a:srgbClr val="FFFFFF"/>
          </a:solidFill>
          <a:ln w="12700">
            <a:solidFill>
              <a:srgbClr val="FFFFFF">
                <a:alpha val="0"/>
              </a:srgbClr>
            </a:solidFill>
            <a:prstDash val="solid"/>
          </a:ln>
        </p:spPr>
      </p:sp>
      <p:sp>
        <p:nvSpPr>
          <p:cNvPr id="20" name="Text 18"/>
          <p:cNvSpPr/>
          <p:nvPr/>
        </p:nvSpPr>
        <p:spPr>
          <a:xfrm>
            <a:off x="8290560" y="2727960"/>
            <a:ext cx="3078480" cy="708660"/>
          </a:xfrm>
          <a:prstGeom prst="rect">
            <a:avLst/>
          </a:prstGeom>
          <a:noFill/>
          <a:ln/>
        </p:spPr>
        <p:txBody>
          <a:bodyPr wrap="square" lIns="0" tIns="0" rIns="0" bIns="0" rtlCol="0" anchor="t">
            <a:spAutoFit/>
          </a:bodyPr>
          <a:lstStyle/>
          <a:p>
            <a:pPr algn="l" indent="0" marL="0">
              <a:lnSpc>
                <a:spcPct val="100000"/>
              </a:lnSpc>
              <a:buNone/>
            </a:pPr>
            <a:r>
              <a:rPr lang="en-US" sz="4080" b="1" dirty="0">
                <a:solidFill>
                  <a:srgbClr val="087F80"/>
                </a:solidFill>
                <a:latin typeface="Bricolage Grotesque" pitchFamily="34" charset="0"/>
                <a:ea typeface="Bricolage Grotesque" pitchFamily="34" charset="-122"/>
                <a:cs typeface="Bricolage Grotesque" pitchFamily="34" charset="-120"/>
              </a:rPr>
              <a:t>40,000+</a:t>
            </a:r>
            <a:endParaRPr lang="en-US" sz="4080" dirty="0"/>
          </a:p>
        </p:txBody>
      </p:sp>
      <p:sp>
        <p:nvSpPr>
          <p:cNvPr id="21" name="Text 19"/>
          <p:cNvSpPr/>
          <p:nvPr/>
        </p:nvSpPr>
        <p:spPr>
          <a:xfrm>
            <a:off x="8290560" y="3581400"/>
            <a:ext cx="3078480" cy="41910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Scale ambition</a:t>
            </a:r>
            <a:endParaRPr lang="en-US" sz="1860" dirty="0"/>
          </a:p>
        </p:txBody>
      </p:sp>
      <p:sp>
        <p:nvSpPr>
          <p:cNvPr id="22" name="Text 20"/>
          <p:cNvSpPr/>
          <p:nvPr/>
        </p:nvSpPr>
        <p:spPr>
          <a:xfrm>
            <a:off x="8290560" y="4160520"/>
            <a:ext cx="3078480" cy="6858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Partition workloads; prove peak</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load, isolation and restore.</a:t>
            </a:r>
            <a:endParaRPr lang="en-US" sz="1440" dirty="0"/>
          </a:p>
        </p:txBody>
      </p:sp>
      <p:sp>
        <p:nvSpPr>
          <p:cNvPr id="23" name="Text 21"/>
          <p:cNvSpPr/>
          <p:nvPr/>
        </p:nvSpPr>
        <p:spPr>
          <a:xfrm>
            <a:off x="609600" y="5303520"/>
            <a:ext cx="2667000" cy="34290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Bricolage Grotesque" pitchFamily="34" charset="0"/>
                <a:ea typeface="Bricolage Grotesque" pitchFamily="34" charset="-122"/>
                <a:cs typeface="Bricolage Grotesque" pitchFamily="34" charset="-120"/>
              </a:rPr>
              <a:t>Commercial offer</a:t>
            </a:r>
            <a:endParaRPr lang="en-US" sz="1920" dirty="0"/>
          </a:p>
        </p:txBody>
      </p:sp>
      <p:sp>
        <p:nvSpPr>
          <p:cNvPr id="24" name="Text 22"/>
          <p:cNvSpPr/>
          <p:nvPr/>
        </p:nvSpPr>
        <p:spPr>
          <a:xfrm>
            <a:off x="3505200" y="5311140"/>
            <a:ext cx="8077200" cy="533400"/>
          </a:xfrm>
          <a:prstGeom prst="rect">
            <a:avLst/>
          </a:prstGeom>
          <a:noFill/>
          <a:ln/>
        </p:spPr>
        <p:txBody>
          <a:bodyPr wrap="square" lIns="0" tIns="0" rIns="0" bIns="0" rtlCol="0" anchor="t">
            <a:spAutoFit/>
          </a:bodyPr>
          <a:lstStyle/>
          <a:p>
            <a:pPr algn="l" indent="0" marL="0">
              <a:lnSpc>
                <a:spcPct val="100000"/>
              </a:lnSpc>
              <a:buNone/>
            </a:pPr>
            <a:r>
              <a:rPr lang="en-US" sz="1620" dirty="0">
                <a:solidFill>
                  <a:srgbClr val="536D74"/>
                </a:solidFill>
                <a:latin typeface="Instrument Sans" pitchFamily="34" charset="0"/>
                <a:ea typeface="Instrument Sans" pitchFamily="34" charset="-122"/>
                <a:cs typeface="Instrument Sans" pitchFamily="34" charset="-120"/>
              </a:rPr>
              <a:t>Per-SME subscription + agreed connector onboarding, distributed through du.</a:t>
            </a:r>
            <a:endParaRPr lang="en-US" sz="1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DELIVERY CONTROLS</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Make the safe action</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the easiest action.</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13</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S06 · S08 · S09</a:t>
            </a:r>
            <a:endParaRPr lang="en-US" sz="900" dirty="0"/>
          </a:p>
        </p:txBody>
      </p:sp>
      <p:sp>
        <p:nvSpPr>
          <p:cNvPr id="10" name="Shape 8"/>
          <p:cNvSpPr/>
          <p:nvPr/>
        </p:nvSpPr>
        <p:spPr>
          <a:xfrm>
            <a:off x="609600" y="2476500"/>
            <a:ext cx="10972800" cy="662940"/>
          </a:xfrm>
          <a:prstGeom prst="roundRect">
            <a:avLst>
              <a:gd name="adj" fmla="val 13793"/>
            </a:avLst>
          </a:prstGeom>
          <a:solidFill>
            <a:srgbClr val="FFFFFF"/>
          </a:solidFill>
          <a:ln w="12700">
            <a:solidFill>
              <a:srgbClr val="FFFFFF">
                <a:alpha val="0"/>
              </a:srgbClr>
            </a:solidFill>
            <a:prstDash val="solid"/>
          </a:ln>
        </p:spPr>
      </p:sp>
      <p:sp>
        <p:nvSpPr>
          <p:cNvPr id="11" name="Text 9"/>
          <p:cNvSpPr/>
          <p:nvPr/>
        </p:nvSpPr>
        <p:spPr>
          <a:xfrm>
            <a:off x="815340" y="26289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Input quality</a:t>
            </a:r>
            <a:endParaRPr lang="en-US" sz="1680" dirty="0"/>
          </a:p>
        </p:txBody>
      </p:sp>
      <p:sp>
        <p:nvSpPr>
          <p:cNvPr id="12" name="Text 10"/>
          <p:cNvSpPr/>
          <p:nvPr/>
        </p:nvSpPr>
        <p:spPr>
          <a:xfrm>
            <a:off x="3429000" y="26212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Freshness, required fields and valid supplier terms</a:t>
            </a:r>
            <a:endParaRPr lang="en-US" sz="1440" dirty="0"/>
          </a:p>
        </p:txBody>
      </p:sp>
      <p:sp>
        <p:nvSpPr>
          <p:cNvPr id="13" name="Text 11"/>
          <p:cNvSpPr/>
          <p:nvPr/>
        </p:nvSpPr>
        <p:spPr>
          <a:xfrm>
            <a:off x="8267700" y="26289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Block stale or incomplete approval</a:t>
            </a:r>
            <a:endParaRPr lang="en-US" sz="1380" dirty="0"/>
          </a:p>
        </p:txBody>
      </p:sp>
      <p:sp>
        <p:nvSpPr>
          <p:cNvPr id="14" name="Shape 12"/>
          <p:cNvSpPr/>
          <p:nvPr/>
        </p:nvSpPr>
        <p:spPr>
          <a:xfrm>
            <a:off x="609600" y="3276600"/>
            <a:ext cx="10972800" cy="662940"/>
          </a:xfrm>
          <a:prstGeom prst="roundRect">
            <a:avLst>
              <a:gd name="adj" fmla="val 13793"/>
            </a:avLst>
          </a:prstGeom>
          <a:solidFill>
            <a:srgbClr val="FFFFFF"/>
          </a:solidFill>
          <a:ln w="12700">
            <a:solidFill>
              <a:srgbClr val="FFFFFF">
                <a:alpha val="0"/>
              </a:srgbClr>
            </a:solidFill>
            <a:prstDash val="solid"/>
          </a:ln>
        </p:spPr>
      </p:sp>
      <p:sp>
        <p:nvSpPr>
          <p:cNvPr id="15" name="Text 13"/>
          <p:cNvSpPr/>
          <p:nvPr/>
        </p:nvSpPr>
        <p:spPr>
          <a:xfrm>
            <a:off x="815340" y="34290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Execution integrity</a:t>
            </a:r>
            <a:endParaRPr lang="en-US" sz="1680" dirty="0"/>
          </a:p>
        </p:txBody>
      </p:sp>
      <p:sp>
        <p:nvSpPr>
          <p:cNvPr id="16" name="Text 14"/>
          <p:cNvSpPr/>
          <p:nvPr/>
        </p:nvSpPr>
        <p:spPr>
          <a:xfrm>
            <a:off x="3429000" y="34213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Human confirmation, version checks and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idempotency</a:t>
            </a:r>
            <a:endParaRPr lang="en-US" sz="1440" dirty="0"/>
          </a:p>
        </p:txBody>
      </p:sp>
      <p:sp>
        <p:nvSpPr>
          <p:cNvPr id="17" name="Text 15"/>
          <p:cNvSpPr/>
          <p:nvPr/>
        </p:nvSpPr>
        <p:spPr>
          <a:xfrm>
            <a:off x="8267700" y="34290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ERP outbox + reconciliation gate</a:t>
            </a:r>
            <a:endParaRPr lang="en-US" sz="1380" dirty="0"/>
          </a:p>
        </p:txBody>
      </p:sp>
      <p:sp>
        <p:nvSpPr>
          <p:cNvPr id="18" name="Shape 16"/>
          <p:cNvSpPr/>
          <p:nvPr/>
        </p:nvSpPr>
        <p:spPr>
          <a:xfrm>
            <a:off x="609600" y="4076700"/>
            <a:ext cx="10972800" cy="662940"/>
          </a:xfrm>
          <a:prstGeom prst="roundRect">
            <a:avLst>
              <a:gd name="adj" fmla="val 13793"/>
            </a:avLst>
          </a:prstGeom>
          <a:solidFill>
            <a:srgbClr val="FFFFFF"/>
          </a:solidFill>
          <a:ln w="12700">
            <a:solidFill>
              <a:srgbClr val="FFFFFF">
                <a:alpha val="0"/>
              </a:srgbClr>
            </a:solidFill>
            <a:prstDash val="solid"/>
          </a:ln>
        </p:spPr>
      </p:sp>
      <p:sp>
        <p:nvSpPr>
          <p:cNvPr id="19" name="Text 17"/>
          <p:cNvSpPr/>
          <p:nvPr/>
        </p:nvSpPr>
        <p:spPr>
          <a:xfrm>
            <a:off x="815340" y="42291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Data protection</a:t>
            </a:r>
            <a:endParaRPr lang="en-US" sz="1680" dirty="0"/>
          </a:p>
        </p:txBody>
      </p:sp>
      <p:sp>
        <p:nvSpPr>
          <p:cNvPr id="20" name="Text 18"/>
          <p:cNvSpPr/>
          <p:nvPr/>
        </p:nvSpPr>
        <p:spPr>
          <a:xfrm>
            <a:off x="3429000" y="42214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Isolated demo state; signed session + CSRF</a:t>
            </a:r>
            <a:endParaRPr lang="en-US" sz="1440" dirty="0"/>
          </a:p>
        </p:txBody>
      </p:sp>
      <p:sp>
        <p:nvSpPr>
          <p:cNvPr id="21" name="Text 19"/>
          <p:cNvSpPr/>
          <p:nvPr/>
        </p:nvSpPr>
        <p:spPr>
          <a:xfrm>
            <a:off x="8267700" y="42291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Pilot IAM, approved processing and</a:t>
            </a:r>
            <a:endParaRPr lang="en-US" sz="1380" dirty="0"/>
          </a:p>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restore test</a:t>
            </a:r>
            <a:endParaRPr lang="en-US" sz="1380" dirty="0"/>
          </a:p>
        </p:txBody>
      </p:sp>
      <p:sp>
        <p:nvSpPr>
          <p:cNvPr id="22" name="Shape 20"/>
          <p:cNvSpPr/>
          <p:nvPr/>
        </p:nvSpPr>
        <p:spPr>
          <a:xfrm>
            <a:off x="609600" y="4876800"/>
            <a:ext cx="10972800" cy="662940"/>
          </a:xfrm>
          <a:prstGeom prst="roundRect">
            <a:avLst>
              <a:gd name="adj" fmla="val 13793"/>
            </a:avLst>
          </a:prstGeom>
          <a:solidFill>
            <a:srgbClr val="FFFFFF"/>
          </a:solidFill>
          <a:ln w="12700">
            <a:solidFill>
              <a:srgbClr val="FFFFFF">
                <a:alpha val="0"/>
              </a:srgbClr>
            </a:solidFill>
            <a:prstDash val="solid"/>
          </a:ln>
        </p:spPr>
      </p:sp>
      <p:sp>
        <p:nvSpPr>
          <p:cNvPr id="23" name="Text 21"/>
          <p:cNvSpPr/>
          <p:nvPr/>
        </p:nvSpPr>
        <p:spPr>
          <a:xfrm>
            <a:off x="815340" y="50292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Model reliability</a:t>
            </a:r>
            <a:endParaRPr lang="en-US" sz="1680" dirty="0"/>
          </a:p>
        </p:txBody>
      </p:sp>
      <p:sp>
        <p:nvSpPr>
          <p:cNvPr id="24" name="Text 22"/>
          <p:cNvSpPr/>
          <p:nvPr/>
        </p:nvSpPr>
        <p:spPr>
          <a:xfrm>
            <a:off x="3429000" y="50215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Comparator, fallback and visible assumptions</a:t>
            </a:r>
            <a:endParaRPr lang="en-US" sz="1440" dirty="0"/>
          </a:p>
        </p:txBody>
      </p:sp>
      <p:sp>
        <p:nvSpPr>
          <p:cNvPr id="25" name="Text 23"/>
          <p:cNvSpPr/>
          <p:nvPr/>
        </p:nvSpPr>
        <p:spPr>
          <a:xfrm>
            <a:off x="8267700" y="50292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Monitor forecast error and rejected</a:t>
            </a:r>
            <a:endParaRPr lang="en-US" sz="1380" dirty="0"/>
          </a:p>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scenarios</a:t>
            </a:r>
            <a:endParaRPr lang="en-US" sz="1380" dirty="0"/>
          </a:p>
        </p:txBody>
      </p:sp>
      <p:sp>
        <p:nvSpPr>
          <p:cNvPr id="26" name="Text 24"/>
          <p:cNvSpPr/>
          <p:nvPr/>
        </p:nvSpPr>
        <p:spPr>
          <a:xfrm>
            <a:off x="609600" y="5852160"/>
            <a:ext cx="10972800" cy="3657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102F3A"/>
                </a:solidFill>
                <a:latin typeface="Instrument Sans" pitchFamily="34" charset="0"/>
                <a:ea typeface="Instrument Sans" pitchFamily="34" charset="-122"/>
                <a:cs typeface="Instrument Sans" pitchFamily="34" charset="-120"/>
              </a:rPr>
              <a:t>Accountable operations: monitor exceptions · pause writes on a material breach · reconcile before resuming</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F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F3A"/>
          </a:solidFill>
          <a:ln w="12700">
            <a:solidFill>
              <a:srgbClr val="102F3A">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D3EDE0"/>
                </a:solidFill>
                <a:latin typeface="Instrument Sans" pitchFamily="34" charset="0"/>
                <a:ea typeface="Instrument Sans" pitchFamily="34" charset="-122"/>
                <a:cs typeface="Instrument Sans" pitchFamily="34" charset="-120"/>
              </a:rPr>
              <a:t>THE ASK</a:t>
            </a:r>
            <a:endParaRPr lang="en-US" sz="1200" dirty="0"/>
          </a:p>
        </p:txBody>
      </p:sp>
      <p:sp>
        <p:nvSpPr>
          <p:cNvPr id="4" name="Text 2"/>
          <p:cNvSpPr/>
          <p:nvPr/>
        </p:nvSpPr>
        <p:spPr>
          <a:xfrm>
            <a:off x="9753600" y="396240"/>
            <a:ext cx="18288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FFFFFF"/>
                </a:solidFill>
                <a:latin typeface="Instrument Sans" pitchFamily="34" charset="0"/>
                <a:ea typeface="Instrument Sans" pitchFamily="34" charset="-122"/>
                <a:cs typeface="Instrument Sans" pitchFamily="34" charset="-120"/>
              </a:rPr>
              <a:t>aqionlabs.ai</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Launch the du recovery pilot.</a:t>
            </a:r>
            <a:endParaRPr lang="en-US" sz="3660" dirty="0"/>
          </a:p>
        </p:txBody>
      </p:sp>
      <p:sp>
        <p:nvSpPr>
          <p:cNvPr id="6" name="Shape 4"/>
          <p:cNvSpPr/>
          <p:nvPr/>
        </p:nvSpPr>
        <p:spPr>
          <a:xfrm>
            <a:off x="609600" y="6316980"/>
            <a:ext cx="10972800" cy="0"/>
          </a:xfrm>
          <a:prstGeom prst="line">
            <a:avLst/>
          </a:prstGeom>
          <a:noFill/>
          <a:ln w="7620">
            <a:solidFill>
              <a:srgbClr val="B5D0CD"/>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B5D0CD"/>
                </a:solidFill>
                <a:latin typeface="Instrument Sans" pitchFamily="34" charset="0"/>
                <a:ea typeface="Instrument Sans" pitchFamily="34" charset="-122"/>
                <a:cs typeface="Instrument Sans" pitchFamily="34" charset="-120"/>
              </a:rPr>
              <a:t>14</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B5D0CD"/>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B5D0CD"/>
                </a:solidFill>
                <a:latin typeface="Instrument Sans" pitchFamily="34" charset="0"/>
                <a:ea typeface="Instrument Sans" pitchFamily="34" charset="-122"/>
                <a:cs typeface="Instrument Sans" pitchFamily="34" charset="-120"/>
              </a:rPr>
              <a:t>S01 · S09</a:t>
            </a:r>
            <a:endParaRPr lang="en-US" sz="900" dirty="0"/>
          </a:p>
        </p:txBody>
      </p:sp>
      <p:sp>
        <p:nvSpPr>
          <p:cNvPr id="10" name="Text 8"/>
          <p:cNvSpPr/>
          <p:nvPr/>
        </p:nvSpPr>
        <p:spPr>
          <a:xfrm>
            <a:off x="609600" y="2423160"/>
            <a:ext cx="6248400" cy="17145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A working product.</a:t>
            </a:r>
            <a:endParaRPr lang="en-US" sz="3660" dirty="0"/>
          </a:p>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A measurable pilot.</a:t>
            </a:r>
            <a:endParaRPr lang="en-US" sz="3660" dirty="0"/>
          </a:p>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A clear path to SME scale.</a:t>
            </a:r>
            <a:endParaRPr lang="en-US" sz="3660" dirty="0"/>
          </a:p>
        </p:txBody>
      </p:sp>
      <p:sp>
        <p:nvSpPr>
          <p:cNvPr id="11" name="Text 9"/>
          <p:cNvSpPr/>
          <p:nvPr/>
        </p:nvSpPr>
        <p:spPr>
          <a:xfrm>
            <a:off x="7886700" y="2514600"/>
            <a:ext cx="518160" cy="36576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D3EDE0"/>
                </a:solidFill>
                <a:latin typeface="Bricolage Grotesque" pitchFamily="34" charset="0"/>
                <a:ea typeface="Bricolage Grotesque" pitchFamily="34" charset="-122"/>
                <a:cs typeface="Bricolage Grotesque" pitchFamily="34" charset="-120"/>
              </a:rPr>
              <a:t>01</a:t>
            </a:r>
            <a:endParaRPr lang="en-US" sz="1800" dirty="0"/>
          </a:p>
        </p:txBody>
      </p:sp>
      <p:sp>
        <p:nvSpPr>
          <p:cNvPr id="12" name="Text 10"/>
          <p:cNvSpPr/>
          <p:nvPr/>
        </p:nvSpPr>
        <p:spPr>
          <a:xfrm>
            <a:off x="8610600" y="2514600"/>
            <a:ext cx="2819400" cy="34290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FFFFFF"/>
                </a:solidFill>
                <a:latin typeface="Instrument Sans" pitchFamily="34" charset="0"/>
                <a:ea typeface="Instrument Sans" pitchFamily="34" charset="-122"/>
                <a:cs typeface="Instrument Sans" pitchFamily="34" charset="-120"/>
              </a:rPr>
              <a:t>Sponsor + recruit</a:t>
            </a:r>
            <a:endParaRPr lang="en-US" sz="1800" dirty="0"/>
          </a:p>
        </p:txBody>
      </p:sp>
      <p:sp>
        <p:nvSpPr>
          <p:cNvPr id="13" name="Text 11"/>
          <p:cNvSpPr/>
          <p:nvPr/>
        </p:nvSpPr>
        <p:spPr>
          <a:xfrm>
            <a:off x="8610600" y="2933700"/>
            <a:ext cx="2819400" cy="58674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160 consenting SMEs; minimum</a:t>
            </a:r>
            <a:endParaRPr lang="en-US" sz="1440" dirty="0"/>
          </a:p>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150 enrolled.</a:t>
            </a:r>
            <a:endParaRPr lang="en-US" sz="1440" dirty="0"/>
          </a:p>
        </p:txBody>
      </p:sp>
      <p:sp>
        <p:nvSpPr>
          <p:cNvPr id="14" name="Text 12"/>
          <p:cNvSpPr/>
          <p:nvPr/>
        </p:nvSpPr>
        <p:spPr>
          <a:xfrm>
            <a:off x="7886700" y="3573780"/>
            <a:ext cx="518160" cy="36576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D3EDE0"/>
                </a:solidFill>
                <a:latin typeface="Bricolage Grotesque" pitchFamily="34" charset="0"/>
                <a:ea typeface="Bricolage Grotesque" pitchFamily="34" charset="-122"/>
                <a:cs typeface="Bricolage Grotesque" pitchFamily="34" charset="-120"/>
              </a:rPr>
              <a:t>02</a:t>
            </a:r>
            <a:endParaRPr lang="en-US" sz="1800" dirty="0"/>
          </a:p>
        </p:txBody>
      </p:sp>
      <p:sp>
        <p:nvSpPr>
          <p:cNvPr id="15" name="Text 13"/>
          <p:cNvSpPr/>
          <p:nvPr/>
        </p:nvSpPr>
        <p:spPr>
          <a:xfrm>
            <a:off x="8610600" y="3573780"/>
            <a:ext cx="2819400" cy="34290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FFFFFF"/>
                </a:solidFill>
                <a:latin typeface="Instrument Sans" pitchFamily="34" charset="0"/>
                <a:ea typeface="Instrument Sans" pitchFamily="34" charset="-122"/>
                <a:cs typeface="Instrument Sans" pitchFamily="34" charset="-120"/>
              </a:rPr>
              <a:t>Connect + operate</a:t>
            </a:r>
            <a:endParaRPr lang="en-US" sz="1800" dirty="0"/>
          </a:p>
        </p:txBody>
      </p:sp>
      <p:sp>
        <p:nvSpPr>
          <p:cNvPr id="16" name="Text 14"/>
          <p:cNvSpPr/>
          <p:nvPr/>
        </p:nvSpPr>
        <p:spPr>
          <a:xfrm>
            <a:off x="8610600" y="3992880"/>
            <a:ext cx="2819400" cy="58674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Named du technical owners and</a:t>
            </a:r>
            <a:endParaRPr lang="en-US" sz="1440" dirty="0"/>
          </a:p>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approved interfaces.</a:t>
            </a:r>
            <a:endParaRPr lang="en-US" sz="1440" dirty="0"/>
          </a:p>
        </p:txBody>
      </p:sp>
      <p:sp>
        <p:nvSpPr>
          <p:cNvPr id="17" name="Text 15"/>
          <p:cNvSpPr/>
          <p:nvPr/>
        </p:nvSpPr>
        <p:spPr>
          <a:xfrm>
            <a:off x="7886700" y="4632960"/>
            <a:ext cx="518160" cy="36576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D3EDE0"/>
                </a:solidFill>
                <a:latin typeface="Bricolage Grotesque" pitchFamily="34" charset="0"/>
                <a:ea typeface="Bricolage Grotesque" pitchFamily="34" charset="-122"/>
                <a:cs typeface="Bricolage Grotesque" pitchFamily="34" charset="-120"/>
              </a:rPr>
              <a:t>03</a:t>
            </a:r>
            <a:endParaRPr lang="en-US" sz="1800" dirty="0"/>
          </a:p>
        </p:txBody>
      </p:sp>
      <p:sp>
        <p:nvSpPr>
          <p:cNvPr id="18" name="Text 16"/>
          <p:cNvSpPr/>
          <p:nvPr/>
        </p:nvSpPr>
        <p:spPr>
          <a:xfrm>
            <a:off x="8610600" y="4632960"/>
            <a:ext cx="2819400" cy="34290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FFFFFF"/>
                </a:solidFill>
                <a:latin typeface="Instrument Sans" pitchFamily="34" charset="0"/>
                <a:ea typeface="Instrument Sans" pitchFamily="34" charset="-122"/>
                <a:cs typeface="Instrument Sans" pitchFamily="34" charset="-120"/>
              </a:rPr>
              <a:t>Evaluate + expand</a:t>
            </a:r>
            <a:endParaRPr lang="en-US" sz="1800" dirty="0"/>
          </a:p>
        </p:txBody>
      </p:sp>
      <p:sp>
        <p:nvSpPr>
          <p:cNvPr id="19" name="Text 17"/>
          <p:cNvSpPr/>
          <p:nvPr/>
        </p:nvSpPr>
        <p:spPr>
          <a:xfrm>
            <a:off x="8610600" y="5052060"/>
            <a:ext cx="2819400" cy="58674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Joint scorecard, delivery gates</a:t>
            </a:r>
            <a:endParaRPr lang="en-US" sz="1440" dirty="0"/>
          </a:p>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and cost ceiling.</a:t>
            </a:r>
            <a:endParaRPr lang="en-US" sz="1440" dirty="0"/>
          </a:p>
        </p:txBody>
      </p:sp>
      <p:sp>
        <p:nvSpPr>
          <p:cNvPr id="20" name="Shape 18"/>
          <p:cNvSpPr/>
          <p:nvPr/>
        </p:nvSpPr>
        <p:spPr>
          <a:xfrm>
            <a:off x="609600" y="5128260"/>
            <a:ext cx="5852160" cy="327660"/>
          </a:xfrm>
          <a:prstGeom prst="roundRect">
            <a:avLst>
              <a:gd name="adj" fmla="val 48837"/>
            </a:avLst>
          </a:prstGeom>
          <a:solidFill>
            <a:srgbClr val="087F80"/>
          </a:solidFill>
          <a:ln w="12700">
            <a:solidFill>
              <a:srgbClr val="087F80">
                <a:alpha val="0"/>
              </a:srgbClr>
            </a:solidFill>
            <a:prstDash val="solid"/>
          </a:ln>
        </p:spPr>
      </p:sp>
      <p:sp>
        <p:nvSpPr>
          <p:cNvPr id="21" name="Text 19"/>
          <p:cNvSpPr/>
          <p:nvPr/>
        </p:nvSpPr>
        <p:spPr>
          <a:xfrm>
            <a:off x="716280" y="5196840"/>
            <a:ext cx="563880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FFFFFF"/>
                </a:solidFill>
                <a:latin typeface="Instrument Sans" pitchFamily="34" charset="0"/>
                <a:ea typeface="Instrument Sans" pitchFamily="34" charset="-122"/>
                <a:cs typeface="Instrument Sans" pitchFamily="34" charset="-120"/>
              </a:rPr>
              <a:t>NEXT MILESTONE / Pilot charter + named owners</a:t>
            </a:r>
            <a:endParaRPr lang="en-US" sz="1080" dirty="0"/>
          </a:p>
        </p:txBody>
      </p:sp>
      <p:sp>
        <p:nvSpPr>
          <p:cNvPr id="22" name="Text 20"/>
          <p:cNvSpPr/>
          <p:nvPr/>
        </p:nvSpPr>
        <p:spPr>
          <a:xfrm>
            <a:off x="609600" y="5722620"/>
            <a:ext cx="1181100" cy="22098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LIVE MVP</a:t>
            </a:r>
            <a:endParaRPr lang="en-US" sz="1080" dirty="0"/>
          </a:p>
        </p:txBody>
      </p:sp>
      <p:sp>
        <p:nvSpPr>
          <p:cNvPr id="23" name="Text 21">
            <a:hlinkClick r:id="rId1" tooltip=""/>
          </p:cNvPr>
          <p:cNvSpPr/>
          <p:nvPr/>
        </p:nvSpPr>
        <p:spPr>
          <a:xfrm>
            <a:off x="1905000" y="5722620"/>
            <a:ext cx="9677400" cy="220980"/>
          </a:xfrm>
          <a:prstGeom prst="rect">
            <a:avLst/>
          </a:prstGeom>
          <a:noFill/>
          <a:ln/>
        </p:spPr>
        <p:txBody>
          <a:bodyPr wrap="square" lIns="0" tIns="0" rIns="0" bIns="0" rtlCol="0" anchor="t">
            <a:spAutoFit/>
          </a:bodyPr>
          <a:lstStyle/>
          <a:p>
            <a:pPr algn="l" indent="0" marL="0">
              <a:lnSpc>
                <a:spcPct val="100000"/>
              </a:lnSpc>
              <a:buNone/>
            </a:pPr>
            <a:r>
              <a:rPr lang="en-US" sz="1200" u="sng" dirty="0">
                <a:solidFill>
                  <a:srgbClr val="FFFFFF"/>
                </a:solidFill>
                <a:latin typeface="Instrument Sans" pitchFamily="34" charset="0"/>
                <a:ea typeface="Instrument Sans" pitchFamily="34" charset="-122"/>
                <a:cs typeface="Instrument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https://duignytemvp.aqionlabs.workers.dev</a:t>
            </a:r>
            <a:endParaRPr lang="en-US" sz="1200" dirty="0"/>
          </a:p>
        </p:txBody>
      </p:sp>
      <p:sp>
        <p:nvSpPr>
          <p:cNvPr id="24" name="Text 22"/>
          <p:cNvSpPr/>
          <p:nvPr/>
        </p:nvSpPr>
        <p:spPr>
          <a:xfrm>
            <a:off x="609600" y="5996940"/>
            <a:ext cx="1181100" cy="22098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GITHUB</a:t>
            </a:r>
            <a:endParaRPr lang="en-US" sz="1080" dirty="0"/>
          </a:p>
        </p:txBody>
      </p:sp>
      <p:sp>
        <p:nvSpPr>
          <p:cNvPr id="25" name="Text 23">
            <a:hlinkClick r:id="rId2" tooltip=""/>
          </p:cNvPr>
          <p:cNvSpPr/>
          <p:nvPr/>
        </p:nvSpPr>
        <p:spPr>
          <a:xfrm>
            <a:off x="1905000" y="5996940"/>
            <a:ext cx="9677400" cy="220980"/>
          </a:xfrm>
          <a:prstGeom prst="rect">
            <a:avLst/>
          </a:prstGeom>
          <a:noFill/>
          <a:ln/>
        </p:spPr>
        <p:txBody>
          <a:bodyPr wrap="square" lIns="0" tIns="0" rIns="0" bIns="0" rtlCol="0" anchor="t">
            <a:spAutoFit/>
          </a:bodyPr>
          <a:lstStyle/>
          <a:p>
            <a:pPr algn="l" indent="0" marL="0">
              <a:lnSpc>
                <a:spcPct val="100000"/>
              </a:lnSpc>
              <a:buNone/>
            </a:pPr>
            <a:r>
              <a:rPr lang="en-US" sz="1200" u="sng" dirty="0">
                <a:solidFill>
                  <a:srgbClr val="FFFFFF"/>
                </a:solidFill>
                <a:latin typeface="Instrument Sans" pitchFamily="34" charset="0"/>
                <a:ea typeface="Instrument Sans" pitchFamily="34" charset="-122"/>
                <a:cs typeface="Instrument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https://github.com/Jaferdecodesai/DuIgnyteMVP_Aqionlabs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AqionLabs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Aqion Relay | Recover supply. Protect operating cash.</dc:title>
  <dc:subject>du × Ignyte — ResilienceTech</dc:subject>
  <dc:creator>AqionLabs</dc:creator>
  <cp:lastModifiedBy>AqionLabs</cp:lastModifiedBy>
  <cp:revision>1</cp:revision>
  <dcterms:created xsi:type="dcterms:W3CDTF">2026-10-16T14:52:32Z</dcterms:created>
  <dcterms:modified xsi:type="dcterms:W3CDTF">2026-10-16T14:52:32Z</dcterms:modified>
</cp:coreProperties>
</file>